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03" r:id="rId2"/>
    <p:sldId id="308" r:id="rId3"/>
    <p:sldId id="343" r:id="rId4"/>
    <p:sldId id="355" r:id="rId5"/>
    <p:sldId id="385" r:id="rId6"/>
    <p:sldId id="272" r:id="rId7"/>
    <p:sldId id="312" r:id="rId8"/>
    <p:sldId id="363" r:id="rId9"/>
    <p:sldId id="377" r:id="rId10"/>
    <p:sldId id="378" r:id="rId11"/>
    <p:sldId id="386" r:id="rId12"/>
    <p:sldId id="387" r:id="rId13"/>
    <p:sldId id="388" r:id="rId14"/>
    <p:sldId id="389" r:id="rId15"/>
    <p:sldId id="351" r:id="rId16"/>
    <p:sldId id="390" r:id="rId17"/>
    <p:sldId id="391" r:id="rId18"/>
    <p:sldId id="392" r:id="rId19"/>
    <p:sldId id="396" r:id="rId20"/>
    <p:sldId id="346" r:id="rId21"/>
    <p:sldId id="397" r:id="rId22"/>
    <p:sldId id="398" r:id="rId23"/>
    <p:sldId id="347" r:id="rId24"/>
    <p:sldId id="349" r:id="rId25"/>
    <p:sldId id="393" r:id="rId26"/>
    <p:sldId id="352" r:id="rId2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3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F3F7"/>
    <a:srgbClr val="F1F1F1"/>
    <a:srgbClr val="00A9CE"/>
    <a:srgbClr val="E4F5F8"/>
    <a:srgbClr val="92D6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81"/>
  </p:normalViewPr>
  <p:slideViewPr>
    <p:cSldViewPr snapToGrid="0">
      <p:cViewPr varScale="1">
        <p:scale>
          <a:sx n="95" d="100"/>
          <a:sy n="95" d="100"/>
        </p:scale>
        <p:origin x="648" y="84"/>
      </p:cViewPr>
      <p:guideLst>
        <p:guide orient="horz" pos="3153"/>
        <p:guide pos="3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D07C0-EB1F-E74E-AF70-074EAAA88DD5}" type="datetimeFigureOut">
              <a:rPr lang="en-US" smtClean="0"/>
              <a:t>15-Oct-19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537C43-A11F-A24A-82EA-F0B3E89A1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15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| Arts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 userDrawn="1"/>
        </p:nvSpPr>
        <p:spPr>
          <a:xfrm>
            <a:off x="0" y="1716833"/>
            <a:ext cx="9144000" cy="34266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7544" y="2494253"/>
            <a:ext cx="8102828" cy="504056"/>
          </a:xfrm>
        </p:spPr>
        <p:txBody>
          <a:bodyPr>
            <a:noAutofit/>
          </a:bodyPr>
          <a:lstStyle>
            <a:lvl1pPr marL="0" indent="0" algn="l">
              <a:lnSpc>
                <a:spcPct val="70000"/>
              </a:lnSpc>
              <a:buNone/>
              <a:defRPr sz="32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Document Title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575267" y="3695303"/>
            <a:ext cx="145117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66726" y="3066002"/>
            <a:ext cx="8103644" cy="417420"/>
          </a:xfrm>
        </p:spPr>
        <p:txBody>
          <a:bodyPr>
            <a:normAutofit/>
          </a:bodyPr>
          <a:lstStyle>
            <a:lvl1pPr marL="0" indent="0">
              <a:lnSpc>
                <a:spcPct val="70000"/>
              </a:lnSpc>
              <a:buNone/>
              <a:defRPr sz="24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dirty="0"/>
              <a:t>Subtitle</a:t>
            </a:r>
          </a:p>
        </p:txBody>
      </p:sp>
      <p:sp>
        <p:nvSpPr>
          <p:cNvPr id="6" name="Text Placeholder 5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70016" y="3695303"/>
            <a:ext cx="8100356" cy="54034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Lecturer/Presenter</a:t>
            </a:r>
            <a:endParaRPr lang="en-A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0519" y="4339896"/>
            <a:ext cx="4659853" cy="28311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486" y="4421307"/>
            <a:ext cx="1423464" cy="14922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000"/>
            <a:ext cx="9144000" cy="2169414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DCCA3B0-C61A-D940-A0F7-D3630FB6B0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505" y="502030"/>
            <a:ext cx="4051738" cy="371273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15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  <a:p>
            <a:pPr lvl="0"/>
            <a:r>
              <a:rPr lang="en-US" dirty="0"/>
              <a:t>Line #</a:t>
            </a:r>
            <a:endParaRPr lang="en-AU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50DB3D2-A019-A946-96B3-BBFAA0ED00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6" y="891536"/>
            <a:ext cx="4052965" cy="195943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5370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 | Arts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>
          <a:xfrm>
            <a:off x="0" y="1716833"/>
            <a:ext cx="9144000" cy="34266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000"/>
            <a:ext cx="9144000" cy="2169414"/>
          </a:xfrm>
          <a:prstGeom prst="rect">
            <a:avLst/>
          </a:prstGeom>
        </p:spPr>
      </p:pic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7544" y="2494253"/>
            <a:ext cx="5522265" cy="504056"/>
          </a:xfrm>
        </p:spPr>
        <p:txBody>
          <a:bodyPr>
            <a:noAutofit/>
          </a:bodyPr>
          <a:lstStyle>
            <a:lvl1pPr marL="0" indent="0" algn="l">
              <a:lnSpc>
                <a:spcPct val="70000"/>
              </a:lnSpc>
              <a:buNone/>
              <a:defRPr sz="32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Document Title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575267" y="3695303"/>
            <a:ext cx="145117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66725" y="3066002"/>
            <a:ext cx="5522949" cy="417420"/>
          </a:xfrm>
        </p:spPr>
        <p:txBody>
          <a:bodyPr>
            <a:normAutofit/>
          </a:bodyPr>
          <a:lstStyle>
            <a:lvl1pPr marL="0" indent="0">
              <a:lnSpc>
                <a:spcPct val="70000"/>
              </a:lnSpc>
              <a:buNone/>
              <a:defRPr sz="24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dirty="0"/>
              <a:t>Subtitle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70015" y="3695303"/>
            <a:ext cx="5519727" cy="54034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Lecturer/Presenter</a:t>
            </a:r>
            <a:endParaRPr lang="en-AU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8419" y="1199380"/>
            <a:ext cx="2752088" cy="275208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486" y="4421307"/>
            <a:ext cx="1423464" cy="14922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0519" y="4339896"/>
            <a:ext cx="4659853" cy="283118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F476C88-BB75-0A42-B719-BB633F8910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504" y="502030"/>
            <a:ext cx="4281775" cy="371273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15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  <a:p>
            <a:pPr lvl="0"/>
            <a:r>
              <a:rPr lang="en-US" dirty="0"/>
              <a:t>Line #</a:t>
            </a:r>
            <a:endParaRPr lang="en-AU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EB447C3-BA8A-084B-958A-C7956DE1B3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6" y="891536"/>
            <a:ext cx="4283072" cy="195943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883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 userDrawn="1"/>
        </p:nvSpPr>
        <p:spPr>
          <a:xfrm>
            <a:off x="0" y="1546698"/>
            <a:ext cx="9144000" cy="3596802"/>
          </a:xfrm>
          <a:prstGeom prst="rect">
            <a:avLst/>
          </a:prstGeom>
          <a:solidFill>
            <a:srgbClr val="92D6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7544" y="2139702"/>
            <a:ext cx="8136904" cy="504056"/>
          </a:xfrm>
        </p:spPr>
        <p:txBody>
          <a:bodyPr>
            <a:noAutofit/>
          </a:bodyPr>
          <a:lstStyle>
            <a:lvl1pPr marL="0" indent="0" algn="l">
              <a:lnSpc>
                <a:spcPct val="70000"/>
              </a:lnSpc>
              <a:buNone/>
              <a:defRPr sz="3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Section Heading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8622" y="573745"/>
            <a:ext cx="1901750" cy="3908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66725" y="2711450"/>
            <a:ext cx="8154988" cy="735013"/>
          </a:xfrm>
        </p:spPr>
        <p:txBody>
          <a:bodyPr>
            <a:normAutofit/>
          </a:bodyPr>
          <a:lstStyle>
            <a:lvl1pPr marL="0" indent="0">
              <a:lnSpc>
                <a:spcPct val="7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AU" dirty="0"/>
              <a:t>Subtitle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486" y="4421307"/>
            <a:ext cx="1423464" cy="149227"/>
          </a:xfrm>
          <a:prstGeom prst="rect">
            <a:avLst/>
          </a:prstGeom>
        </p:spPr>
      </p:pic>
      <p:sp>
        <p:nvSpPr>
          <p:cNvPr id="12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4" y="502030"/>
            <a:ext cx="5436350" cy="371273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15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  <a:p>
            <a:pPr lvl="0"/>
            <a:r>
              <a:rPr lang="en-US" dirty="0"/>
              <a:t>Line #</a:t>
            </a:r>
            <a:endParaRPr lang="en-AU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66725" y="891536"/>
            <a:ext cx="5437997" cy="195943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4940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1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0"/>
          <p:cNvSpPr>
            <a:spLocks noGrp="1"/>
          </p:cNvSpPr>
          <p:nvPr>
            <p:ph type="body" sz="quarter" idx="22" hasCustomPrompt="1"/>
          </p:nvPr>
        </p:nvSpPr>
        <p:spPr>
          <a:xfrm>
            <a:off x="468503" y="3823856"/>
            <a:ext cx="8089895" cy="872201"/>
          </a:xfrm>
        </p:spPr>
        <p:txBody>
          <a:bodyPr numCol="1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baseline="0">
                <a:solidFill>
                  <a:schemeClr val="accent2"/>
                </a:solidFill>
                <a:latin typeface="+mn-lt"/>
              </a:defRPr>
            </a:lvl1pPr>
            <a:lvl2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2pPr>
            <a:lvl3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3pPr>
            <a:lvl4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</p:txBody>
      </p:sp>
      <p:sp>
        <p:nvSpPr>
          <p:cNvPr id="17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468503" y="2364159"/>
            <a:ext cx="8089895" cy="1007883"/>
          </a:xfrm>
        </p:spPr>
        <p:txBody>
          <a:bodyPr numCol="1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baseline="0">
                <a:solidFill>
                  <a:schemeClr val="accent2"/>
                </a:solidFill>
                <a:latin typeface="+mn-lt"/>
              </a:defRPr>
            </a:lvl1pPr>
            <a:lvl2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2pPr>
            <a:lvl3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3pPr>
            <a:lvl4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2"/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477838" y="1419646"/>
            <a:ext cx="8103751" cy="381544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77838" y="1986867"/>
            <a:ext cx="8103751" cy="266137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477838" y="3495393"/>
            <a:ext cx="8103751" cy="217625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20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3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2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XX Month 2018 Week XX</a:t>
            </a:r>
          </a:p>
        </p:txBody>
      </p:sp>
      <p:cxnSp>
        <p:nvCxnSpPr>
          <p:cNvPr id="28" name="Straight Connector 27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264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2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7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477839" y="2372435"/>
            <a:ext cx="8103750" cy="1451419"/>
          </a:xfrm>
        </p:spPr>
        <p:txBody>
          <a:bodyPr numCol="1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baseline="0">
                <a:solidFill>
                  <a:schemeClr val="accent2"/>
                </a:solidFill>
                <a:latin typeface="+mn-lt"/>
              </a:defRPr>
            </a:lvl1pPr>
            <a:lvl2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2pPr>
            <a:lvl3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3pPr>
            <a:lvl4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3"/>
            <a:r>
              <a:rPr lang="en-US" dirty="0"/>
              <a:t>Bullet point</a:t>
            </a:r>
          </a:p>
        </p:txBody>
      </p:sp>
      <p:sp>
        <p:nvSpPr>
          <p:cNvPr id="11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468503" y="3936878"/>
            <a:ext cx="8113086" cy="73436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1">
                <a:solidFill>
                  <a:schemeClr val="accent1"/>
                </a:solidFill>
                <a:latin typeface="Georgia" panose="02040502050405020303" pitchFamily="18" charset="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“Quote/Highlight text goes here”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477838" y="1405791"/>
            <a:ext cx="8103751" cy="381544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77838" y="1986867"/>
            <a:ext cx="8103751" cy="266137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</p:spTree>
    <p:extLst>
      <p:ext uri="{BB962C8B-B14F-4D97-AF65-F5344CB8AC3E}">
        <p14:creationId xmlns:p14="http://schemas.microsoft.com/office/powerpoint/2010/main" val="849277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3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477839" y="1552575"/>
            <a:ext cx="7866062" cy="309843"/>
          </a:xfrm>
        </p:spPr>
        <p:txBody>
          <a:bodyPr>
            <a:normAutofit/>
          </a:bodyPr>
          <a:lstStyle>
            <a:lvl1pPr marL="0" indent="0">
              <a:lnSpc>
                <a:spcPct val="70000"/>
              </a:lnSpc>
              <a:buNone/>
              <a:defRPr sz="27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77839" y="2071355"/>
            <a:ext cx="3767707" cy="233963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17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477839" y="2369515"/>
            <a:ext cx="3768725" cy="2212010"/>
          </a:xfrm>
        </p:spPr>
        <p:txBody>
          <a:bodyPr numCol="1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300" baseline="0">
                <a:solidFill>
                  <a:schemeClr val="accent2"/>
                </a:solidFill>
                <a:latin typeface="+mn-lt"/>
              </a:defRPr>
            </a:lvl1pPr>
            <a:lvl2pPr>
              <a:tabLst>
                <a:tab pos="180000" algn="l"/>
                <a:tab pos="360000" algn="l"/>
                <a:tab pos="540000" algn="l"/>
                <a:tab pos="720000" algn="l"/>
              </a:tabLst>
              <a:defRPr sz="1300"/>
            </a:lvl2pPr>
            <a:lvl3pPr>
              <a:tabLst>
                <a:tab pos="180000" algn="l"/>
                <a:tab pos="360000" algn="l"/>
                <a:tab pos="540000" algn="l"/>
                <a:tab pos="720000" algn="l"/>
              </a:tabLst>
              <a:defRPr sz="1300"/>
            </a:lvl3pPr>
            <a:lvl4pPr>
              <a:tabLst>
                <a:tab pos="180000" algn="l"/>
                <a:tab pos="360000" algn="l"/>
                <a:tab pos="540000" algn="l"/>
                <a:tab pos="720000" algn="l"/>
              </a:tabLst>
              <a:defRPr sz="13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3"/>
            <a:r>
              <a:rPr lang="en-US" dirty="0"/>
              <a:t>Bullet point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4567126" y="2071963"/>
            <a:ext cx="3767707" cy="233963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17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14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4567126" y="2369514"/>
            <a:ext cx="3768725" cy="2212011"/>
          </a:xfrm>
        </p:spPr>
        <p:txBody>
          <a:bodyPr numCol="1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3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3"/>
            <a:r>
              <a:rPr lang="en-US" dirty="0"/>
              <a:t>Bullet point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17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22" name="Straight Connector 21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483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4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3920463" y="1419647"/>
            <a:ext cx="4654953" cy="370227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3920694" y="2027609"/>
            <a:ext cx="4648466" cy="228802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20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3920650" y="2369515"/>
            <a:ext cx="4649722" cy="836034"/>
          </a:xfrm>
        </p:spPr>
        <p:txBody>
          <a:bodyPr numCol="1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571500" y="1419647"/>
            <a:ext cx="2989118" cy="32630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2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28" name="Straight Connector 27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3920881" y="3340700"/>
            <a:ext cx="4648269" cy="192210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0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3</a:t>
            </a:r>
          </a:p>
        </p:txBody>
      </p:sp>
      <p:sp>
        <p:nvSpPr>
          <p:cNvPr id="30" name="Text Placeholder 20"/>
          <p:cNvSpPr>
            <a:spLocks noGrp="1"/>
          </p:cNvSpPr>
          <p:nvPr>
            <p:ph type="body" sz="quarter" idx="25" hasCustomPrompt="1"/>
          </p:nvPr>
        </p:nvSpPr>
        <p:spPr>
          <a:xfrm>
            <a:off x="3920836" y="3645865"/>
            <a:ext cx="4649525" cy="1036794"/>
          </a:xfrm>
        </p:spPr>
        <p:txBody>
          <a:bodyPr numCol="1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2901826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5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3920650" y="1419647"/>
            <a:ext cx="4649722" cy="370227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20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3920836" y="2369515"/>
            <a:ext cx="4649536" cy="815509"/>
          </a:xfrm>
        </p:spPr>
        <p:txBody>
          <a:bodyPr numCol="1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21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3920882" y="3340700"/>
            <a:ext cx="4649490" cy="192209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0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3</a:t>
            </a:r>
          </a:p>
        </p:txBody>
      </p:sp>
      <p:sp>
        <p:nvSpPr>
          <p:cNvPr id="24" name="Text Placeholder 20"/>
          <p:cNvSpPr>
            <a:spLocks noGrp="1"/>
          </p:cNvSpPr>
          <p:nvPr>
            <p:ph type="body" sz="quarter" idx="25" hasCustomPrompt="1"/>
          </p:nvPr>
        </p:nvSpPr>
        <p:spPr>
          <a:xfrm>
            <a:off x="3920836" y="3645864"/>
            <a:ext cx="4649536" cy="1036971"/>
          </a:xfrm>
        </p:spPr>
        <p:txBody>
          <a:bodyPr numCol="1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571500" y="1602525"/>
            <a:ext cx="2891560" cy="289156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27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29" name="Straight Connector 28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3920694" y="2027609"/>
            <a:ext cx="4648466" cy="228802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</p:spTree>
    <p:extLst>
      <p:ext uri="{BB962C8B-B14F-4D97-AF65-F5344CB8AC3E}">
        <p14:creationId xmlns:p14="http://schemas.microsoft.com/office/powerpoint/2010/main" val="1335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6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2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26" name="Straight Connector 25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573686" y="2999683"/>
            <a:ext cx="2549167" cy="286914"/>
          </a:xfrm>
        </p:spPr>
        <p:txBody>
          <a:bodyPr numCol="1">
            <a:noAutofit/>
          </a:bodyPr>
          <a:lstStyle>
            <a:lvl1pPr marL="0" indent="0" algn="ctr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30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573341" y="3391005"/>
            <a:ext cx="2549856" cy="1305686"/>
          </a:xfrm>
        </p:spPr>
        <p:txBody>
          <a:bodyPr numCol="1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1128269" y="1330579"/>
            <a:ext cx="1440000" cy="1440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27" hasCustomPrompt="1"/>
          </p:nvPr>
        </p:nvSpPr>
        <p:spPr>
          <a:xfrm>
            <a:off x="3294512" y="2999683"/>
            <a:ext cx="2549167" cy="286914"/>
          </a:xfrm>
        </p:spPr>
        <p:txBody>
          <a:bodyPr numCol="1">
            <a:noAutofit/>
          </a:bodyPr>
          <a:lstStyle>
            <a:lvl1pPr marL="0" indent="0" algn="ctr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33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3294167" y="3391005"/>
            <a:ext cx="2549856" cy="1305686"/>
          </a:xfrm>
        </p:spPr>
        <p:txBody>
          <a:bodyPr numCol="1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29" hasCustomPrompt="1"/>
          </p:nvPr>
        </p:nvSpPr>
        <p:spPr>
          <a:xfrm>
            <a:off x="6019020" y="2999683"/>
            <a:ext cx="2549167" cy="286914"/>
          </a:xfrm>
        </p:spPr>
        <p:txBody>
          <a:bodyPr numCol="1">
            <a:noAutofit/>
          </a:bodyPr>
          <a:lstStyle>
            <a:lvl1pPr marL="0" indent="0" algn="ctr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35" name="Text Placeholder 20"/>
          <p:cNvSpPr>
            <a:spLocks noGrp="1"/>
          </p:cNvSpPr>
          <p:nvPr>
            <p:ph type="body" sz="quarter" idx="30" hasCustomPrompt="1"/>
          </p:nvPr>
        </p:nvSpPr>
        <p:spPr>
          <a:xfrm>
            <a:off x="6018675" y="3391005"/>
            <a:ext cx="2549856" cy="1305686"/>
          </a:xfrm>
        </p:spPr>
        <p:txBody>
          <a:bodyPr numCol="1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3849095" y="1330579"/>
            <a:ext cx="1440000" cy="1440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32"/>
          </p:nvPr>
        </p:nvSpPr>
        <p:spPr>
          <a:xfrm>
            <a:off x="6573603" y="1330579"/>
            <a:ext cx="1440000" cy="1440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2029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7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4918582" y="3297979"/>
            <a:ext cx="3649603" cy="234930"/>
          </a:xfrm>
        </p:spPr>
        <p:txBody>
          <a:bodyPr numCol="1">
            <a:noAutofit/>
          </a:bodyPr>
          <a:lstStyle>
            <a:lvl1pPr marL="0" indent="0" algn="l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9" hasCustomPrompt="1"/>
          </p:nvPr>
        </p:nvSpPr>
        <p:spPr>
          <a:xfrm>
            <a:off x="4932218" y="2027609"/>
            <a:ext cx="3635968" cy="244272"/>
          </a:xfrm>
        </p:spPr>
        <p:txBody>
          <a:bodyPr numCol="1">
            <a:noAutofit/>
          </a:bodyPr>
          <a:lstStyle>
            <a:lvl1pPr marL="0" indent="0" algn="l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571500" y="1419647"/>
            <a:ext cx="4180610" cy="327704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31" hasCustomPrompt="1"/>
          </p:nvPr>
        </p:nvSpPr>
        <p:spPr>
          <a:xfrm>
            <a:off x="4932218" y="1419647"/>
            <a:ext cx="3635968" cy="370227"/>
          </a:xfrm>
        </p:spPr>
        <p:txBody>
          <a:bodyPr numCol="1">
            <a:noAutofit/>
          </a:bodyPr>
          <a:lstStyle>
            <a:lvl1pPr marL="0" indent="0" algn="l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20" name="Text Placeholder 20"/>
          <p:cNvSpPr>
            <a:spLocks noGrp="1"/>
          </p:cNvSpPr>
          <p:nvPr>
            <p:ph type="body" sz="quarter" idx="32" hasCustomPrompt="1"/>
          </p:nvPr>
        </p:nvSpPr>
        <p:spPr>
          <a:xfrm>
            <a:off x="4932218" y="2370979"/>
            <a:ext cx="3635968" cy="827901"/>
          </a:xfrm>
        </p:spPr>
        <p:txBody>
          <a:bodyPr numCol="1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2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31" name="Straight Connector 30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0"/>
          <p:cNvSpPr>
            <a:spLocks noGrp="1"/>
          </p:cNvSpPr>
          <p:nvPr>
            <p:ph type="body" sz="quarter" idx="25" hasCustomPrompt="1"/>
          </p:nvPr>
        </p:nvSpPr>
        <p:spPr>
          <a:xfrm>
            <a:off x="4932218" y="3632009"/>
            <a:ext cx="3635967" cy="1061119"/>
          </a:xfrm>
        </p:spPr>
        <p:txBody>
          <a:bodyPr numCol="1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2072499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8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571499" y="1402597"/>
            <a:ext cx="7998873" cy="329409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13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16" name="Straight Connector 15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23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9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dia Placeholder 11"/>
          <p:cNvSpPr>
            <a:spLocks noGrp="1"/>
          </p:cNvSpPr>
          <p:nvPr>
            <p:ph type="media" sz="quarter" idx="27" hasCustomPrompt="1"/>
          </p:nvPr>
        </p:nvSpPr>
        <p:spPr>
          <a:xfrm>
            <a:off x="1523536" y="1273921"/>
            <a:ext cx="6094800" cy="34290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Insert Media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007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10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562971"/>
            <a:ext cx="6380353" cy="298237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INSERT HEADER</a:t>
            </a:r>
            <a:endParaRPr lang="en-AU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477838" y="1394759"/>
            <a:ext cx="8092533" cy="395115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77839" y="1998811"/>
            <a:ext cx="3767707" cy="249835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477839" y="2386291"/>
            <a:ext cx="3768725" cy="2310400"/>
          </a:xfrm>
        </p:spPr>
        <p:txBody>
          <a:bodyPr numCol="1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baseline="0">
                <a:solidFill>
                  <a:schemeClr val="accent2"/>
                </a:solidFill>
                <a:latin typeface="+mn-lt"/>
              </a:defRPr>
            </a:lvl1pPr>
            <a:lvl2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2pPr>
            <a:lvl3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3pPr>
            <a:lvl4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3"/>
            <a:r>
              <a:rPr lang="en-US" dirty="0"/>
              <a:t>Bullet point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4567126" y="1999419"/>
            <a:ext cx="4002164" cy="249227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4567126" y="2386291"/>
            <a:ext cx="4003245" cy="2310400"/>
          </a:xfrm>
        </p:spPr>
        <p:txBody>
          <a:bodyPr numCol="1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800" baseline="0">
                <a:solidFill>
                  <a:schemeClr val="accent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3"/>
            <a:r>
              <a:rPr lang="en-US" dirty="0"/>
              <a:t>Bullet point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19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1">
    <p:bg>
      <p:bgPr>
        <a:solidFill>
          <a:srgbClr val="D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20"/>
          <p:cNvSpPr>
            <a:spLocks noGrp="1"/>
          </p:cNvSpPr>
          <p:nvPr>
            <p:ph type="body" sz="quarter" idx="22" hasCustomPrompt="1"/>
          </p:nvPr>
        </p:nvSpPr>
        <p:spPr>
          <a:xfrm>
            <a:off x="468503" y="3823856"/>
            <a:ext cx="8089895" cy="872201"/>
          </a:xfrm>
        </p:spPr>
        <p:txBody>
          <a:bodyPr numCol="1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baseline="0">
                <a:solidFill>
                  <a:schemeClr val="accent2"/>
                </a:solidFill>
                <a:latin typeface="+mn-lt"/>
              </a:defRPr>
            </a:lvl1pPr>
            <a:lvl2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2pPr>
            <a:lvl3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3pPr>
            <a:lvl4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</p:txBody>
      </p:sp>
      <p:sp>
        <p:nvSpPr>
          <p:cNvPr id="19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468503" y="2364159"/>
            <a:ext cx="8089895" cy="1007883"/>
          </a:xfrm>
        </p:spPr>
        <p:txBody>
          <a:bodyPr numCol="1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baseline="0">
                <a:solidFill>
                  <a:schemeClr val="accent2"/>
                </a:solidFill>
                <a:latin typeface="+mn-lt"/>
              </a:defRPr>
            </a:lvl1pPr>
            <a:lvl2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2pPr>
            <a:lvl3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3pPr>
            <a:lvl4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2"/>
            <a:endParaRPr lang="en-US" dirty="0"/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477838" y="1419646"/>
            <a:ext cx="8103751" cy="381544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77838" y="1986867"/>
            <a:ext cx="8103751" cy="266137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477838" y="3495393"/>
            <a:ext cx="8103751" cy="217625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20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3</a:t>
            </a: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2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XX Month 2018 Week XX</a:t>
            </a:r>
          </a:p>
        </p:txBody>
      </p:sp>
      <p:cxnSp>
        <p:nvCxnSpPr>
          <p:cNvPr id="30" name="Straight Connector 29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977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2">
    <p:bg>
      <p:bgPr>
        <a:solidFill>
          <a:srgbClr val="D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7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477839" y="2372435"/>
            <a:ext cx="8103750" cy="1451419"/>
          </a:xfrm>
        </p:spPr>
        <p:txBody>
          <a:bodyPr numCol="1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baseline="0">
                <a:solidFill>
                  <a:schemeClr val="accent2"/>
                </a:solidFill>
                <a:latin typeface="+mn-lt"/>
              </a:defRPr>
            </a:lvl1pPr>
            <a:lvl2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2pPr>
            <a:lvl3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3pPr>
            <a:lvl4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3"/>
            <a:r>
              <a:rPr lang="en-US" dirty="0"/>
              <a:t>Bullet point</a:t>
            </a:r>
          </a:p>
        </p:txBody>
      </p:sp>
      <p:sp>
        <p:nvSpPr>
          <p:cNvPr id="11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468503" y="3936878"/>
            <a:ext cx="8113086" cy="73436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1">
                <a:solidFill>
                  <a:schemeClr val="accent1"/>
                </a:solidFill>
                <a:latin typeface="Georgia" panose="02040502050405020303" pitchFamily="18" charset="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“Quote/Highlight text goes here”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477838" y="1405791"/>
            <a:ext cx="8103751" cy="381544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77838" y="1986867"/>
            <a:ext cx="8103751" cy="266137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</p:spTree>
    <p:extLst>
      <p:ext uri="{BB962C8B-B14F-4D97-AF65-F5344CB8AC3E}">
        <p14:creationId xmlns:p14="http://schemas.microsoft.com/office/powerpoint/2010/main" val="1299656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3">
    <p:bg>
      <p:bgPr>
        <a:solidFill>
          <a:srgbClr val="D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477839" y="1552575"/>
            <a:ext cx="7866062" cy="309843"/>
          </a:xfrm>
        </p:spPr>
        <p:txBody>
          <a:bodyPr>
            <a:normAutofit/>
          </a:bodyPr>
          <a:lstStyle>
            <a:lvl1pPr marL="0" indent="0">
              <a:lnSpc>
                <a:spcPct val="70000"/>
              </a:lnSpc>
              <a:buNone/>
              <a:defRPr sz="27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77839" y="2071355"/>
            <a:ext cx="3767707" cy="233963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17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477839" y="2369515"/>
            <a:ext cx="3768725" cy="2212010"/>
          </a:xfrm>
        </p:spPr>
        <p:txBody>
          <a:bodyPr numCol="1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300" baseline="0">
                <a:solidFill>
                  <a:schemeClr val="accent2"/>
                </a:solidFill>
                <a:latin typeface="+mn-lt"/>
              </a:defRPr>
            </a:lvl1pPr>
            <a:lvl2pPr>
              <a:tabLst>
                <a:tab pos="180000" algn="l"/>
                <a:tab pos="360000" algn="l"/>
                <a:tab pos="540000" algn="l"/>
                <a:tab pos="720000" algn="l"/>
              </a:tabLst>
              <a:defRPr sz="1300"/>
            </a:lvl2pPr>
            <a:lvl3pPr>
              <a:tabLst>
                <a:tab pos="180000" algn="l"/>
                <a:tab pos="360000" algn="l"/>
                <a:tab pos="540000" algn="l"/>
                <a:tab pos="720000" algn="l"/>
              </a:tabLst>
              <a:defRPr sz="1300"/>
            </a:lvl3pPr>
            <a:lvl4pPr>
              <a:tabLst>
                <a:tab pos="180000" algn="l"/>
                <a:tab pos="360000" algn="l"/>
                <a:tab pos="540000" algn="l"/>
                <a:tab pos="720000" algn="l"/>
              </a:tabLst>
              <a:defRPr sz="13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3"/>
            <a:r>
              <a:rPr lang="en-US" dirty="0"/>
              <a:t>Bullet point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4567126" y="2071963"/>
            <a:ext cx="3767707" cy="233963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17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14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4567126" y="2369514"/>
            <a:ext cx="3768725" cy="2212011"/>
          </a:xfrm>
        </p:spPr>
        <p:txBody>
          <a:bodyPr numCol="1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3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3"/>
            <a:r>
              <a:rPr lang="en-US" dirty="0"/>
              <a:t>Bullet point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17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22" name="Straight Connector 21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7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4">
    <p:bg>
      <p:bgPr>
        <a:solidFill>
          <a:srgbClr val="D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4085998" y="1552575"/>
            <a:ext cx="4254764" cy="309843"/>
          </a:xfrm>
        </p:spPr>
        <p:txBody>
          <a:bodyPr>
            <a:normAutofit/>
          </a:bodyPr>
          <a:lstStyle>
            <a:lvl1pPr marL="0" indent="0">
              <a:lnSpc>
                <a:spcPct val="70000"/>
              </a:lnSpc>
              <a:buNone/>
              <a:defRPr sz="27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4085998" y="2071963"/>
            <a:ext cx="4248835" cy="233963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17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14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4085998" y="2369515"/>
            <a:ext cx="4249983" cy="907086"/>
          </a:xfrm>
        </p:spPr>
        <p:txBody>
          <a:bodyPr numCol="1">
            <a:noAutofit/>
          </a:bodyPr>
          <a:lstStyle>
            <a:lvl1pPr marL="0" indent="0">
              <a:buFont typeface="Arial" panose="020B0604020202020204" pitchFamily="34" charset="0"/>
              <a:buNone/>
              <a:defRPr sz="13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4085998" y="3368409"/>
            <a:ext cx="4248835" cy="233963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13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3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25" hasCustomPrompt="1"/>
          </p:nvPr>
        </p:nvSpPr>
        <p:spPr>
          <a:xfrm>
            <a:off x="4085998" y="3645865"/>
            <a:ext cx="4249983" cy="907086"/>
          </a:xfrm>
        </p:spPr>
        <p:txBody>
          <a:bodyPr numCol="1">
            <a:noAutofit/>
          </a:bodyPr>
          <a:lstStyle>
            <a:lvl1pPr marL="0" indent="0">
              <a:buFont typeface="Arial" panose="020B0604020202020204" pitchFamily="34" charset="0"/>
              <a:buNone/>
              <a:defRPr sz="13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571500" y="1547813"/>
            <a:ext cx="3003550" cy="3003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1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6708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5">
    <p:bg>
      <p:bgPr>
        <a:solidFill>
          <a:srgbClr val="D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3920650" y="1419647"/>
            <a:ext cx="4649722" cy="370227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3920836" y="2369515"/>
            <a:ext cx="4649536" cy="815509"/>
          </a:xfrm>
        </p:spPr>
        <p:txBody>
          <a:bodyPr numCol="1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3920882" y="3340700"/>
            <a:ext cx="4649490" cy="192209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0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3</a:t>
            </a:r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25" hasCustomPrompt="1"/>
          </p:nvPr>
        </p:nvSpPr>
        <p:spPr>
          <a:xfrm>
            <a:off x="3920836" y="3645864"/>
            <a:ext cx="4649536" cy="1036971"/>
          </a:xfrm>
        </p:spPr>
        <p:txBody>
          <a:bodyPr numCol="1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571500" y="1602525"/>
            <a:ext cx="2891560" cy="289156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12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3920694" y="2027609"/>
            <a:ext cx="4648466" cy="228802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</p:spTree>
    <p:extLst>
      <p:ext uri="{BB962C8B-B14F-4D97-AF65-F5344CB8AC3E}">
        <p14:creationId xmlns:p14="http://schemas.microsoft.com/office/powerpoint/2010/main" val="11870105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6">
    <p:bg>
      <p:bgPr>
        <a:solidFill>
          <a:srgbClr val="D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573686" y="3162971"/>
            <a:ext cx="2549167" cy="233963"/>
          </a:xfrm>
        </p:spPr>
        <p:txBody>
          <a:bodyPr numCol="1">
            <a:noAutofit/>
          </a:bodyPr>
          <a:lstStyle>
            <a:lvl1pPr marL="0" indent="0" algn="ctr">
              <a:lnSpc>
                <a:spcPct val="70000"/>
              </a:lnSpc>
              <a:buNone/>
              <a:defRPr sz="17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14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573341" y="3460523"/>
            <a:ext cx="2549856" cy="907086"/>
          </a:xfrm>
        </p:spPr>
        <p:txBody>
          <a:bodyPr numCol="1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1128269" y="1399854"/>
            <a:ext cx="1440000" cy="144000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7" hasCustomPrompt="1"/>
          </p:nvPr>
        </p:nvSpPr>
        <p:spPr>
          <a:xfrm>
            <a:off x="3294512" y="3162971"/>
            <a:ext cx="2549167" cy="233963"/>
          </a:xfrm>
        </p:spPr>
        <p:txBody>
          <a:bodyPr numCol="1">
            <a:noAutofit/>
          </a:bodyPr>
          <a:lstStyle>
            <a:lvl1pPr marL="0" indent="0" algn="ctr">
              <a:lnSpc>
                <a:spcPct val="70000"/>
              </a:lnSpc>
              <a:buNone/>
              <a:defRPr sz="17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17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3294167" y="3460523"/>
            <a:ext cx="2549856" cy="907086"/>
          </a:xfrm>
        </p:spPr>
        <p:txBody>
          <a:bodyPr numCol="1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9" hasCustomPrompt="1"/>
          </p:nvPr>
        </p:nvSpPr>
        <p:spPr>
          <a:xfrm>
            <a:off x="6019020" y="3162971"/>
            <a:ext cx="2549167" cy="233963"/>
          </a:xfrm>
        </p:spPr>
        <p:txBody>
          <a:bodyPr numCol="1">
            <a:noAutofit/>
          </a:bodyPr>
          <a:lstStyle>
            <a:lvl1pPr marL="0" indent="0" algn="ctr">
              <a:lnSpc>
                <a:spcPct val="70000"/>
              </a:lnSpc>
              <a:buNone/>
              <a:defRPr sz="17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19" name="Text Placeholder 20"/>
          <p:cNvSpPr>
            <a:spLocks noGrp="1"/>
          </p:cNvSpPr>
          <p:nvPr>
            <p:ph type="body" sz="quarter" idx="30" hasCustomPrompt="1"/>
          </p:nvPr>
        </p:nvSpPr>
        <p:spPr>
          <a:xfrm>
            <a:off x="6018675" y="3460523"/>
            <a:ext cx="2549856" cy="907086"/>
          </a:xfrm>
        </p:spPr>
        <p:txBody>
          <a:bodyPr numCol="1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3849095" y="1399854"/>
            <a:ext cx="1440000" cy="144000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32"/>
          </p:nvPr>
        </p:nvSpPr>
        <p:spPr>
          <a:xfrm>
            <a:off x="6573603" y="1399854"/>
            <a:ext cx="1440000" cy="144000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2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26" name="Straight Connector 25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362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7">
    <p:bg>
      <p:bgPr>
        <a:solidFill>
          <a:srgbClr val="D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4918582" y="3297979"/>
            <a:ext cx="3649603" cy="234930"/>
          </a:xfrm>
        </p:spPr>
        <p:txBody>
          <a:bodyPr numCol="1">
            <a:noAutofit/>
          </a:bodyPr>
          <a:lstStyle>
            <a:lvl1pPr marL="0" indent="0" algn="l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29" hasCustomPrompt="1"/>
          </p:nvPr>
        </p:nvSpPr>
        <p:spPr>
          <a:xfrm>
            <a:off x="4932218" y="2027609"/>
            <a:ext cx="3635968" cy="244272"/>
          </a:xfrm>
        </p:spPr>
        <p:txBody>
          <a:bodyPr numCol="1">
            <a:noAutofit/>
          </a:bodyPr>
          <a:lstStyle>
            <a:lvl1pPr marL="0" indent="0" algn="l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571500" y="1419647"/>
            <a:ext cx="4180610" cy="327704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1" hasCustomPrompt="1"/>
          </p:nvPr>
        </p:nvSpPr>
        <p:spPr>
          <a:xfrm>
            <a:off x="4932218" y="1419647"/>
            <a:ext cx="3635968" cy="370227"/>
          </a:xfrm>
        </p:spPr>
        <p:txBody>
          <a:bodyPr numCol="1">
            <a:noAutofit/>
          </a:bodyPr>
          <a:lstStyle>
            <a:lvl1pPr marL="0" indent="0" algn="l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32" hasCustomPrompt="1"/>
          </p:nvPr>
        </p:nvSpPr>
        <p:spPr>
          <a:xfrm>
            <a:off x="4932218" y="2370979"/>
            <a:ext cx="3635968" cy="827901"/>
          </a:xfrm>
        </p:spPr>
        <p:txBody>
          <a:bodyPr numCol="1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12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0"/>
          <p:cNvSpPr>
            <a:spLocks noGrp="1"/>
          </p:cNvSpPr>
          <p:nvPr>
            <p:ph type="body" sz="quarter" idx="25" hasCustomPrompt="1"/>
          </p:nvPr>
        </p:nvSpPr>
        <p:spPr>
          <a:xfrm>
            <a:off x="4932218" y="3632009"/>
            <a:ext cx="3635967" cy="1061119"/>
          </a:xfrm>
        </p:spPr>
        <p:txBody>
          <a:bodyPr numCol="1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17504360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8">
    <p:bg>
      <p:bgPr>
        <a:solidFill>
          <a:srgbClr val="D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571499" y="1418095"/>
            <a:ext cx="7998873" cy="32785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8507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9">
    <p:bg>
      <p:bgPr>
        <a:solidFill>
          <a:srgbClr val="D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11"/>
          <p:cNvSpPr>
            <a:spLocks noGrp="1"/>
          </p:cNvSpPr>
          <p:nvPr>
            <p:ph type="media" sz="quarter" idx="27" hasCustomPrompt="1"/>
          </p:nvPr>
        </p:nvSpPr>
        <p:spPr>
          <a:xfrm>
            <a:off x="1523536" y="1273921"/>
            <a:ext cx="6094800" cy="34290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Insert Media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0349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10">
    <p:bg>
      <p:bgPr>
        <a:solidFill>
          <a:srgbClr val="D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562971"/>
            <a:ext cx="6380353" cy="298237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INSERT HEADER</a:t>
            </a:r>
            <a:endParaRPr lang="en-AU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477838" y="1394759"/>
            <a:ext cx="8092533" cy="395115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77839" y="1998811"/>
            <a:ext cx="3767707" cy="249835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477839" y="2386291"/>
            <a:ext cx="3768725" cy="2310400"/>
          </a:xfrm>
        </p:spPr>
        <p:txBody>
          <a:bodyPr numCol="1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baseline="0">
                <a:solidFill>
                  <a:schemeClr val="accent2"/>
                </a:solidFill>
                <a:latin typeface="+mn-lt"/>
              </a:defRPr>
            </a:lvl1pPr>
            <a:lvl2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2pPr>
            <a:lvl3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3pPr>
            <a:lvl4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3"/>
            <a:r>
              <a:rPr lang="en-US" dirty="0"/>
              <a:t>Bullet point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4567126" y="1999419"/>
            <a:ext cx="4002164" cy="249227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4567126" y="2386291"/>
            <a:ext cx="4003245" cy="2310400"/>
          </a:xfrm>
        </p:spPr>
        <p:txBody>
          <a:bodyPr numCol="1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800" baseline="0">
                <a:solidFill>
                  <a:schemeClr val="accent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3"/>
            <a:r>
              <a:rPr lang="en-US" dirty="0"/>
              <a:t>Bullet point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4592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0"/>
          <p:cNvSpPr>
            <a:spLocks noGrp="1"/>
          </p:cNvSpPr>
          <p:nvPr>
            <p:ph type="body" sz="quarter" idx="22" hasCustomPrompt="1"/>
          </p:nvPr>
        </p:nvSpPr>
        <p:spPr>
          <a:xfrm>
            <a:off x="468503" y="3823856"/>
            <a:ext cx="8089895" cy="872201"/>
          </a:xfrm>
        </p:spPr>
        <p:txBody>
          <a:bodyPr numCol="1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baseline="0">
                <a:solidFill>
                  <a:schemeClr val="accent2"/>
                </a:solidFill>
                <a:latin typeface="+mn-lt"/>
              </a:defRPr>
            </a:lvl1pPr>
            <a:lvl2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2pPr>
            <a:lvl3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3pPr>
            <a:lvl4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468503" y="2364159"/>
            <a:ext cx="8089895" cy="1007883"/>
          </a:xfrm>
        </p:spPr>
        <p:txBody>
          <a:bodyPr numCol="1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baseline="0">
                <a:solidFill>
                  <a:schemeClr val="accent2"/>
                </a:solidFill>
                <a:latin typeface="+mn-lt"/>
              </a:defRPr>
            </a:lvl1pPr>
            <a:lvl2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2pPr>
            <a:lvl3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3pPr>
            <a:lvl4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2"/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477838" y="1419646"/>
            <a:ext cx="8103751" cy="381544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77838" y="1986867"/>
            <a:ext cx="8103751" cy="266137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477838" y="3495393"/>
            <a:ext cx="8103751" cy="217625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20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3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12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XX Month 2018 Week XX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0865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7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477839" y="2372435"/>
            <a:ext cx="8103750" cy="1451419"/>
          </a:xfrm>
        </p:spPr>
        <p:txBody>
          <a:bodyPr numCol="1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baseline="0">
                <a:solidFill>
                  <a:schemeClr val="accent2"/>
                </a:solidFill>
                <a:latin typeface="+mn-lt"/>
              </a:defRPr>
            </a:lvl1pPr>
            <a:lvl2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2pPr>
            <a:lvl3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3pPr>
            <a:lvl4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3"/>
            <a:r>
              <a:rPr lang="en-US" dirty="0"/>
              <a:t>Bullet point</a:t>
            </a:r>
          </a:p>
        </p:txBody>
      </p:sp>
      <p:sp>
        <p:nvSpPr>
          <p:cNvPr id="11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468503" y="3936878"/>
            <a:ext cx="8113086" cy="73436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1">
                <a:solidFill>
                  <a:schemeClr val="accent1"/>
                </a:solidFill>
                <a:latin typeface="Georgia" panose="02040502050405020303" pitchFamily="18" charset="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“Quote/Highlight text goes here”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477838" y="1405791"/>
            <a:ext cx="8103751" cy="381544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77838" y="1986867"/>
            <a:ext cx="8103751" cy="266137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</p:spTree>
    <p:extLst>
      <p:ext uri="{BB962C8B-B14F-4D97-AF65-F5344CB8AC3E}">
        <p14:creationId xmlns:p14="http://schemas.microsoft.com/office/powerpoint/2010/main" val="16999289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477839" y="1552575"/>
            <a:ext cx="7866062" cy="309843"/>
          </a:xfrm>
        </p:spPr>
        <p:txBody>
          <a:bodyPr>
            <a:normAutofit/>
          </a:bodyPr>
          <a:lstStyle>
            <a:lvl1pPr marL="0" indent="0">
              <a:lnSpc>
                <a:spcPct val="70000"/>
              </a:lnSpc>
              <a:buNone/>
              <a:defRPr sz="27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77839" y="2071355"/>
            <a:ext cx="3767707" cy="233963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17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477839" y="2369515"/>
            <a:ext cx="3768725" cy="2212010"/>
          </a:xfrm>
        </p:spPr>
        <p:txBody>
          <a:bodyPr numCol="1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300" baseline="0">
                <a:solidFill>
                  <a:schemeClr val="accent2"/>
                </a:solidFill>
                <a:latin typeface="+mn-lt"/>
              </a:defRPr>
            </a:lvl1pPr>
            <a:lvl2pPr>
              <a:tabLst>
                <a:tab pos="180000" algn="l"/>
                <a:tab pos="360000" algn="l"/>
                <a:tab pos="540000" algn="l"/>
                <a:tab pos="720000" algn="l"/>
              </a:tabLst>
              <a:defRPr sz="1300"/>
            </a:lvl2pPr>
            <a:lvl3pPr>
              <a:tabLst>
                <a:tab pos="180000" algn="l"/>
                <a:tab pos="360000" algn="l"/>
                <a:tab pos="540000" algn="l"/>
                <a:tab pos="720000" algn="l"/>
              </a:tabLst>
              <a:defRPr sz="1300"/>
            </a:lvl3pPr>
            <a:lvl4pPr>
              <a:tabLst>
                <a:tab pos="180000" algn="l"/>
                <a:tab pos="360000" algn="l"/>
                <a:tab pos="540000" algn="l"/>
                <a:tab pos="720000" algn="l"/>
              </a:tabLst>
              <a:defRPr sz="13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3"/>
            <a:r>
              <a:rPr lang="en-US" dirty="0"/>
              <a:t>Bullet point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4567126" y="2071963"/>
            <a:ext cx="3767707" cy="233963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17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12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4567126" y="2369514"/>
            <a:ext cx="3768725" cy="2212011"/>
          </a:xfrm>
        </p:spPr>
        <p:txBody>
          <a:bodyPr numCol="1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3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3"/>
            <a:r>
              <a:rPr lang="en-US" dirty="0"/>
              <a:t>Bullet point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1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20" name="Straight Connector 19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8851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3920463" y="1419647"/>
            <a:ext cx="4654953" cy="370227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3920694" y="2027609"/>
            <a:ext cx="4648466" cy="228802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3920650" y="2369515"/>
            <a:ext cx="4649722" cy="836034"/>
          </a:xfrm>
        </p:spPr>
        <p:txBody>
          <a:bodyPr numCol="1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571500" y="1419647"/>
            <a:ext cx="2989118" cy="32630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3920881" y="3340700"/>
            <a:ext cx="4648269" cy="192210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0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3</a:t>
            </a:r>
          </a:p>
        </p:txBody>
      </p:sp>
      <p:sp>
        <p:nvSpPr>
          <p:cNvPr id="15" name="Text Placeholder 20"/>
          <p:cNvSpPr>
            <a:spLocks noGrp="1"/>
          </p:cNvSpPr>
          <p:nvPr>
            <p:ph type="body" sz="quarter" idx="25" hasCustomPrompt="1"/>
          </p:nvPr>
        </p:nvSpPr>
        <p:spPr>
          <a:xfrm>
            <a:off x="3920836" y="3645865"/>
            <a:ext cx="4649525" cy="1036794"/>
          </a:xfrm>
        </p:spPr>
        <p:txBody>
          <a:bodyPr numCol="1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17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19" name="Straight Connector 18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6003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3920650" y="1419647"/>
            <a:ext cx="4649722" cy="370227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3920836" y="2369515"/>
            <a:ext cx="4649536" cy="815509"/>
          </a:xfrm>
        </p:spPr>
        <p:txBody>
          <a:bodyPr numCol="1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3920882" y="3340700"/>
            <a:ext cx="4649490" cy="192209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0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3</a:t>
            </a:r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25" hasCustomPrompt="1"/>
          </p:nvPr>
        </p:nvSpPr>
        <p:spPr>
          <a:xfrm>
            <a:off x="3920836" y="3645864"/>
            <a:ext cx="4649536" cy="1036971"/>
          </a:xfrm>
        </p:spPr>
        <p:txBody>
          <a:bodyPr numCol="1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571500" y="1602525"/>
            <a:ext cx="2891560" cy="289156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12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3920694" y="2027609"/>
            <a:ext cx="4648466" cy="228802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</p:spTree>
    <p:extLst>
      <p:ext uri="{BB962C8B-B14F-4D97-AF65-F5344CB8AC3E}">
        <p14:creationId xmlns:p14="http://schemas.microsoft.com/office/powerpoint/2010/main" val="1705196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17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19" name="Straight Connector 18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573686" y="2999683"/>
            <a:ext cx="2549167" cy="286914"/>
          </a:xfrm>
        </p:spPr>
        <p:txBody>
          <a:bodyPr numCol="1">
            <a:noAutofit/>
          </a:bodyPr>
          <a:lstStyle>
            <a:lvl1pPr marL="0" indent="0" algn="ctr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573341" y="3391005"/>
            <a:ext cx="2549856" cy="1305686"/>
          </a:xfrm>
        </p:spPr>
        <p:txBody>
          <a:bodyPr numCol="1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1128269" y="1330579"/>
            <a:ext cx="1440000" cy="1440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7" hasCustomPrompt="1"/>
          </p:nvPr>
        </p:nvSpPr>
        <p:spPr>
          <a:xfrm>
            <a:off x="3294512" y="2999683"/>
            <a:ext cx="2549167" cy="286914"/>
          </a:xfrm>
        </p:spPr>
        <p:txBody>
          <a:bodyPr numCol="1">
            <a:noAutofit/>
          </a:bodyPr>
          <a:lstStyle>
            <a:lvl1pPr marL="0" indent="0" algn="ctr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24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3294167" y="3391005"/>
            <a:ext cx="2549856" cy="1305686"/>
          </a:xfrm>
        </p:spPr>
        <p:txBody>
          <a:bodyPr numCol="1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9" hasCustomPrompt="1"/>
          </p:nvPr>
        </p:nvSpPr>
        <p:spPr>
          <a:xfrm>
            <a:off x="6019020" y="2999683"/>
            <a:ext cx="2549167" cy="286914"/>
          </a:xfrm>
        </p:spPr>
        <p:txBody>
          <a:bodyPr numCol="1">
            <a:noAutofit/>
          </a:bodyPr>
          <a:lstStyle>
            <a:lvl1pPr marL="0" indent="0" algn="ctr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26" name="Text Placeholder 20"/>
          <p:cNvSpPr>
            <a:spLocks noGrp="1"/>
          </p:cNvSpPr>
          <p:nvPr>
            <p:ph type="body" sz="quarter" idx="30" hasCustomPrompt="1"/>
          </p:nvPr>
        </p:nvSpPr>
        <p:spPr>
          <a:xfrm>
            <a:off x="6018675" y="3391005"/>
            <a:ext cx="2549856" cy="1305686"/>
          </a:xfrm>
        </p:spPr>
        <p:txBody>
          <a:bodyPr numCol="1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3849095" y="1330579"/>
            <a:ext cx="1440000" cy="1440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32"/>
          </p:nvPr>
        </p:nvSpPr>
        <p:spPr>
          <a:xfrm>
            <a:off x="6573603" y="1330579"/>
            <a:ext cx="1440000" cy="1440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762896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4918582" y="3297979"/>
            <a:ext cx="3649603" cy="234930"/>
          </a:xfrm>
        </p:spPr>
        <p:txBody>
          <a:bodyPr numCol="1">
            <a:noAutofit/>
          </a:bodyPr>
          <a:lstStyle>
            <a:lvl1pPr marL="0" indent="0" algn="l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29" hasCustomPrompt="1"/>
          </p:nvPr>
        </p:nvSpPr>
        <p:spPr>
          <a:xfrm>
            <a:off x="4932218" y="2027609"/>
            <a:ext cx="3635968" cy="244272"/>
          </a:xfrm>
        </p:spPr>
        <p:txBody>
          <a:bodyPr numCol="1">
            <a:noAutofit/>
          </a:bodyPr>
          <a:lstStyle>
            <a:lvl1pPr marL="0" indent="0" algn="l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571500" y="1419647"/>
            <a:ext cx="4180610" cy="327704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1" hasCustomPrompt="1"/>
          </p:nvPr>
        </p:nvSpPr>
        <p:spPr>
          <a:xfrm>
            <a:off x="4932218" y="1419647"/>
            <a:ext cx="3635968" cy="370227"/>
          </a:xfrm>
        </p:spPr>
        <p:txBody>
          <a:bodyPr numCol="1">
            <a:noAutofit/>
          </a:bodyPr>
          <a:lstStyle>
            <a:lvl1pPr marL="0" indent="0" algn="l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32" hasCustomPrompt="1"/>
          </p:nvPr>
        </p:nvSpPr>
        <p:spPr>
          <a:xfrm>
            <a:off x="4932218" y="2370979"/>
            <a:ext cx="3635968" cy="827901"/>
          </a:xfrm>
        </p:spPr>
        <p:txBody>
          <a:bodyPr numCol="1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12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0"/>
          <p:cNvSpPr>
            <a:spLocks noGrp="1"/>
          </p:cNvSpPr>
          <p:nvPr>
            <p:ph type="body" sz="quarter" idx="25" hasCustomPrompt="1"/>
          </p:nvPr>
        </p:nvSpPr>
        <p:spPr>
          <a:xfrm>
            <a:off x="4932218" y="3632009"/>
            <a:ext cx="3635967" cy="1061119"/>
          </a:xfrm>
        </p:spPr>
        <p:txBody>
          <a:bodyPr numCol="1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aseline="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9447165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571499" y="1394759"/>
            <a:ext cx="7998873" cy="330193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8385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11"/>
          <p:cNvSpPr>
            <a:spLocks noGrp="1"/>
          </p:cNvSpPr>
          <p:nvPr>
            <p:ph type="media" sz="quarter" idx="27" hasCustomPrompt="1"/>
          </p:nvPr>
        </p:nvSpPr>
        <p:spPr>
          <a:xfrm>
            <a:off x="1523536" y="1273921"/>
            <a:ext cx="6094800" cy="34290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Insert Media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sp>
        <p:nvSpPr>
          <p:cNvPr id="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356711"/>
            <a:ext cx="6380353" cy="229799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Insert unit/course name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608" y="650707"/>
            <a:ext cx="6376248" cy="205968"/>
          </a:xfrm>
        </p:spPr>
        <p:txBody>
          <a:bodyPr>
            <a:noAutofit/>
          </a:bodyPr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XX Month 2018 Week XX</a:t>
            </a:r>
            <a:endParaRPr lang="en-AU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932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8503" y="562971"/>
            <a:ext cx="6380353" cy="298237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INSERT HEADER</a:t>
            </a:r>
            <a:endParaRPr lang="en-AU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477838" y="1394759"/>
            <a:ext cx="8092533" cy="395115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3200" b="1" cap="all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1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77839" y="1998811"/>
            <a:ext cx="3767707" cy="249835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477839" y="2386291"/>
            <a:ext cx="3768725" cy="2310400"/>
          </a:xfrm>
        </p:spPr>
        <p:txBody>
          <a:bodyPr numCol="1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baseline="0">
                <a:solidFill>
                  <a:schemeClr val="accent2"/>
                </a:solidFill>
                <a:latin typeface="+mn-lt"/>
              </a:defRPr>
            </a:lvl1pPr>
            <a:lvl2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2pPr>
            <a:lvl3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3pPr>
            <a:lvl4pPr>
              <a:tabLst>
                <a:tab pos="180000" algn="l"/>
                <a:tab pos="360000" algn="l"/>
                <a:tab pos="540000" algn="l"/>
                <a:tab pos="720000" algn="l"/>
              </a:tabLst>
              <a:defRPr sz="18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3"/>
            <a:r>
              <a:rPr lang="en-US" dirty="0"/>
              <a:t>Bullet point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4567126" y="1999419"/>
            <a:ext cx="4002164" cy="249227"/>
          </a:xfrm>
        </p:spPr>
        <p:txBody>
          <a:bodyPr numCol="1">
            <a:noAutofit/>
          </a:bodyPr>
          <a:lstStyle>
            <a:lvl1pPr marL="0" indent="0">
              <a:lnSpc>
                <a:spcPct val="70000"/>
              </a:lnSpc>
              <a:buNone/>
              <a:defRPr sz="2400" b="1" cap="none" baseline="0">
                <a:solidFill>
                  <a:schemeClr val="accent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Heading 2</a:t>
            </a:r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4567126" y="2386291"/>
            <a:ext cx="4003245" cy="2310400"/>
          </a:xfrm>
        </p:spPr>
        <p:txBody>
          <a:bodyPr numCol="1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800" baseline="0">
                <a:solidFill>
                  <a:schemeClr val="accent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/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Bullet point</a:t>
            </a:r>
          </a:p>
          <a:p>
            <a:pPr lvl="2"/>
            <a:r>
              <a:rPr lang="en-US" dirty="0"/>
              <a:t>Bullet point</a:t>
            </a:r>
          </a:p>
          <a:p>
            <a:pPr lvl="3"/>
            <a:r>
              <a:rPr lang="en-US" dirty="0"/>
              <a:t>Bullet point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1360" y="562971"/>
            <a:ext cx="1429012" cy="293705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flipH="1">
            <a:off x="571500" y="953110"/>
            <a:ext cx="79988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22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C8126-145F-43A5-BF53-1439CCFE803F}" type="datetimeFigureOut">
              <a:rPr lang="en-AU" smtClean="0"/>
              <a:t>15/10/2019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CD66F-8ABA-485A-83FE-D46C84ED85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2831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6" r:id="rId2"/>
    <p:sldLayoutId id="2147483657" r:id="rId3"/>
    <p:sldLayoutId id="2147483658" r:id="rId4"/>
    <p:sldLayoutId id="2147483686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700" r:id="rId12"/>
    <p:sldLayoutId id="2147483687" r:id="rId13"/>
    <p:sldLayoutId id="2147483665" r:id="rId14"/>
    <p:sldLayoutId id="2147483705" r:id="rId15"/>
    <p:sldLayoutId id="2147483666" r:id="rId16"/>
    <p:sldLayoutId id="2147483667" r:id="rId17"/>
    <p:sldLayoutId id="2147483704" r:id="rId18"/>
    <p:sldLayoutId id="2147483668" r:id="rId19"/>
    <p:sldLayoutId id="2147483688" r:id="rId20"/>
    <p:sldLayoutId id="2147483689" r:id="rId21"/>
    <p:sldLayoutId id="2147483702" r:id="rId22"/>
    <p:sldLayoutId id="2147483690" r:id="rId23"/>
    <p:sldLayoutId id="2147483691" r:id="rId24"/>
    <p:sldLayoutId id="2147483692" r:id="rId25"/>
    <p:sldLayoutId id="2147483693" r:id="rId26"/>
    <p:sldLayoutId id="2147483694" r:id="rId27"/>
    <p:sldLayoutId id="2147483695" r:id="rId28"/>
    <p:sldLayoutId id="2147483696" r:id="rId29"/>
    <p:sldLayoutId id="2147483697" r:id="rId30"/>
    <p:sldLayoutId id="2147483698" r:id="rId31"/>
    <p:sldLayoutId id="2147483701" r:id="rId32"/>
    <p:sldLayoutId id="2147483699" r:id="rId33"/>
  </p:sldLayoutIdLst>
  <p:txStyles>
    <p:titleStyle>
      <a:lvl1pPr algn="ctr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47675" indent="-180975" algn="l" defTabSz="914400" rtl="0" eaLnBrk="1" latinLnBrk="0" hangingPunct="1">
        <a:spcBef>
          <a:spcPct val="20000"/>
        </a:spcBef>
        <a:buFont typeface="Calibri" panose="020F0502020204030204" pitchFamily="34" charset="0"/>
        <a:buChar char="­"/>
        <a:defRPr sz="13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809625" indent="-180975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3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162050" indent="-171450" algn="l" defTabSz="914400" rtl="0" eaLnBrk="1" latinLnBrk="0" hangingPunct="1">
        <a:spcBef>
          <a:spcPct val="20000"/>
        </a:spcBef>
        <a:buFont typeface="Calibri" panose="020F0502020204030204" pitchFamily="34" charset="0"/>
        <a:buChar char="◦"/>
        <a:defRPr sz="13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1524000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ython.org/downloads" TargetMode="Externa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AA66811-84B4-5444-BF40-28A1D22363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Programming for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4CE6B-C5D2-4549-9ADA-533341C129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Week 9 – Languages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B32AC-7DA3-3244-95E7-9456387F28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Simon Thompson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310A7-9B14-D14F-9249-85EF573906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/ Programming for Design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56ACD4-214E-9B48-8984-8BFDBCCA29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 September 2019 / Semester 2 Week 9</a:t>
            </a:r>
          </a:p>
        </p:txBody>
      </p:sp>
    </p:spTree>
    <p:extLst>
      <p:ext uri="{BB962C8B-B14F-4D97-AF65-F5344CB8AC3E}">
        <p14:creationId xmlns:p14="http://schemas.microsoft.com/office/powerpoint/2010/main" val="3363788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20125" y="1990891"/>
            <a:ext cx="8103750" cy="2414354"/>
          </a:xfrm>
        </p:spPr>
        <p:txBody>
          <a:bodyPr>
            <a:normAutofit/>
          </a:bodyPr>
          <a:lstStyle/>
          <a:p>
            <a:r>
              <a:rPr lang="en-AU" dirty="0"/>
              <a:t>We looked at how to produce quality code</a:t>
            </a:r>
          </a:p>
          <a:p>
            <a:endParaRPr lang="en-AU" dirty="0"/>
          </a:p>
          <a:p>
            <a:r>
              <a:rPr lang="en-AU" dirty="0"/>
              <a:t>Looked at some types of unit tests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cap="none" dirty="0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2126528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68503" y="1140084"/>
            <a:ext cx="8103751" cy="381544"/>
          </a:xfrm>
        </p:spPr>
        <p:txBody>
          <a:bodyPr/>
          <a:lstStyle/>
          <a:p>
            <a:r>
              <a:rPr lang="en-US" sz="2800" cap="none" dirty="0"/>
              <a:t>Testing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pic>
        <p:nvPicPr>
          <p:cNvPr id="10" name="Picture 2" descr="Image result for unit test">
            <a:extLst>
              <a:ext uri="{FF2B5EF4-FFF2-40B4-BE49-F238E27FC236}">
                <a16:creationId xmlns:a16="http://schemas.microsoft.com/office/drawing/2014/main" id="{C8D989AF-4A9B-44FF-9FDE-EB0F17DA8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6" y="2075202"/>
            <a:ext cx="249555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Image result for cost of defects">
            <a:extLst>
              <a:ext uri="{FF2B5EF4-FFF2-40B4-BE49-F238E27FC236}">
                <a16:creationId xmlns:a16="http://schemas.microsoft.com/office/drawing/2014/main" id="{B8C2EBAB-275C-4F7E-8ED8-0DFAE6AE8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988" y="1891542"/>
            <a:ext cx="4709626" cy="2303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1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68503" y="1140084"/>
            <a:ext cx="8103751" cy="381544"/>
          </a:xfrm>
        </p:spPr>
        <p:txBody>
          <a:bodyPr/>
          <a:lstStyle/>
          <a:p>
            <a:r>
              <a:rPr lang="en-US" sz="2800" cap="none" dirty="0"/>
              <a:t>Unit testing types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AA293C-FD11-407A-9ED1-87468063ADC4}"/>
              </a:ext>
            </a:extLst>
          </p:cNvPr>
          <p:cNvCxnSpPr>
            <a:cxnSpLocks/>
          </p:cNvCxnSpPr>
          <p:nvPr/>
        </p:nvCxnSpPr>
        <p:spPr>
          <a:xfrm>
            <a:off x="4520378" y="1746250"/>
            <a:ext cx="0" cy="2965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0B60619-FCD9-4C22-A474-68FCB5006B0A}"/>
              </a:ext>
            </a:extLst>
          </p:cNvPr>
          <p:cNvSpPr txBox="1"/>
          <p:nvPr/>
        </p:nvSpPr>
        <p:spPr>
          <a:xfrm>
            <a:off x="539750" y="1719343"/>
            <a:ext cx="29273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Data type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Boundary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Code Coverage</a:t>
            </a:r>
          </a:p>
          <a:p>
            <a:endParaRPr lang="en-AU" dirty="0"/>
          </a:p>
          <a:p>
            <a:endParaRPr lang="en-AU" b="1" dirty="0"/>
          </a:p>
        </p:txBody>
      </p:sp>
      <p:pic>
        <p:nvPicPr>
          <p:cNvPr id="11" name="Picture 2" descr="Image result for passing wrong data types">
            <a:extLst>
              <a:ext uri="{FF2B5EF4-FFF2-40B4-BE49-F238E27FC236}">
                <a16:creationId xmlns:a16="http://schemas.microsoft.com/office/drawing/2014/main" id="{C93A3287-2514-464A-8A8D-6694D19B2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025" y="1140084"/>
            <a:ext cx="2876550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Image result for boundary testing">
            <a:extLst>
              <a:ext uri="{FF2B5EF4-FFF2-40B4-BE49-F238E27FC236}">
                <a16:creationId xmlns:a16="http://schemas.microsoft.com/office/drawing/2014/main" id="{19554F42-3C2D-4480-8520-6452A4013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2" y="3507637"/>
            <a:ext cx="329565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 result for coverage testing">
            <a:extLst>
              <a:ext uri="{FF2B5EF4-FFF2-40B4-BE49-F238E27FC236}">
                <a16:creationId xmlns:a16="http://schemas.microsoft.com/office/drawing/2014/main" id="{DBA2C0A0-D3FA-4416-A90B-EE98F185D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0106" y="3228975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194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477838" y="1719343"/>
            <a:ext cx="4367212" cy="3138407"/>
          </a:xfrm>
        </p:spPr>
        <p:txBody>
          <a:bodyPr>
            <a:normAutofit/>
          </a:bodyPr>
          <a:lstStyle/>
          <a:p>
            <a:r>
              <a:rPr lang="en-US" dirty="0"/>
              <a:t>Reading your code</a:t>
            </a:r>
          </a:p>
          <a:p>
            <a:endParaRPr lang="en-US" dirty="0"/>
          </a:p>
          <a:p>
            <a:r>
              <a:rPr lang="en-US" dirty="0"/>
              <a:t>Commenting you code</a:t>
            </a:r>
          </a:p>
          <a:p>
            <a:endParaRPr lang="en-US" dirty="0"/>
          </a:p>
          <a:p>
            <a:r>
              <a:rPr lang="en-US" dirty="0"/>
              <a:t>Putting log/output statements everywhere</a:t>
            </a:r>
          </a:p>
          <a:p>
            <a:endParaRPr lang="en-US" dirty="0"/>
          </a:p>
          <a:p>
            <a:r>
              <a:rPr lang="en-US" dirty="0"/>
              <a:t>Debuggers</a:t>
            </a:r>
          </a:p>
          <a:p>
            <a:pPr lvl="1"/>
            <a:r>
              <a:rPr lang="en-US" dirty="0"/>
              <a:t>Watch/Break Points/Step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77838" y="1097237"/>
            <a:ext cx="8103751" cy="381544"/>
          </a:xfrm>
        </p:spPr>
        <p:txBody>
          <a:bodyPr/>
          <a:lstStyle/>
          <a:p>
            <a:r>
              <a:rPr lang="en-US" sz="2800" cap="none" dirty="0"/>
              <a:t>Debugging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pic>
        <p:nvPicPr>
          <p:cNvPr id="10242" name="Picture 2" descr="Image result for debuggers">
            <a:extLst>
              <a:ext uri="{FF2B5EF4-FFF2-40B4-BE49-F238E27FC236}">
                <a16:creationId xmlns:a16="http://schemas.microsoft.com/office/drawing/2014/main" id="{4209B9A8-6B55-46D8-B135-98156F39E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013" y="2932066"/>
            <a:ext cx="227647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82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468503" y="2364159"/>
            <a:ext cx="8089895" cy="2128634"/>
          </a:xfrm>
        </p:spPr>
        <p:txBody>
          <a:bodyPr>
            <a:normAutofit lnSpcReduction="10000"/>
          </a:bodyPr>
          <a:lstStyle/>
          <a:p>
            <a:r>
              <a:rPr lang="en-AU" dirty="0"/>
              <a:t>Identify and critique various programming languages and how they can be utilised within the field of design;</a:t>
            </a:r>
          </a:p>
          <a:p>
            <a:endParaRPr lang="en-AU" dirty="0"/>
          </a:p>
          <a:p>
            <a:r>
              <a:rPr lang="en-AU" dirty="0"/>
              <a:t>Analyse and apply computer programming techniques through the use of features including loops, variables, functions and objects; and</a:t>
            </a:r>
          </a:p>
          <a:p>
            <a:endParaRPr lang="en-AU" dirty="0"/>
          </a:p>
          <a:p>
            <a:r>
              <a:rPr lang="en-AU" dirty="0"/>
              <a:t>Create engaging interactive media for different various contexts.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2800" cap="none" dirty="0"/>
              <a:t>Why are we here?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</p:spTree>
    <p:extLst>
      <p:ext uri="{BB962C8B-B14F-4D97-AF65-F5344CB8AC3E}">
        <p14:creationId xmlns:p14="http://schemas.microsoft.com/office/powerpoint/2010/main" val="80586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Quiz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20% Week 4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Mostly module 1, with maybe a variable question or five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Project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30% Week 7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 JavaScript project using the tools we have learnt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Project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50% Week 13</a:t>
            </a:r>
          </a:p>
          <a:p>
            <a:r>
              <a:rPr lang="en-US" dirty="0"/>
              <a:t>A Python project using the tools we have learnt</a:t>
            </a:r>
          </a:p>
        </p:txBody>
      </p:sp>
      <p:pic>
        <p:nvPicPr>
          <p:cNvPr id="3074" name="Picture 2" descr="Related image">
            <a:extLst>
              <a:ext uri="{FF2B5EF4-FFF2-40B4-BE49-F238E27FC236}">
                <a16:creationId xmlns:a16="http://schemas.microsoft.com/office/drawing/2014/main" id="{ECC3C03A-BBDD-4A5A-A71A-D7946DAADB4E}"/>
              </a:ext>
            </a:extLst>
          </p:cNvPr>
          <p:cNvPicPr>
            <a:picLocks noGrp="1" noChangeAspect="1" noChangeArrowheads="1"/>
          </p:cNvPicPr>
          <p:nvPr>
            <p:ph type="pic" sz="quarter" idx="2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4" r="281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project">
            <a:extLst>
              <a:ext uri="{FF2B5EF4-FFF2-40B4-BE49-F238E27FC236}">
                <a16:creationId xmlns:a16="http://schemas.microsoft.com/office/drawing/2014/main" id="{A8ACC2C5-6860-47C4-8D25-E5F6126B807A}"/>
              </a:ext>
            </a:extLst>
          </p:cNvPr>
          <p:cNvPicPr>
            <a:picLocks noGrp="1" noChangeAspect="1" noChangeArrowheads="1"/>
          </p:cNvPicPr>
          <p:nvPr>
            <p:ph type="pic" sz="quarter" idx="3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26" r="1382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lated image">
            <a:extLst>
              <a:ext uri="{FF2B5EF4-FFF2-40B4-BE49-F238E27FC236}">
                <a16:creationId xmlns:a16="http://schemas.microsoft.com/office/drawing/2014/main" id="{F30BCB94-6FD6-426B-B854-80CBCE224339}"/>
              </a:ext>
            </a:extLst>
          </p:cNvPr>
          <p:cNvPicPr>
            <a:picLocks noGrp="1" noChangeAspect="1" noChangeArrowheads="1"/>
          </p:cNvPicPr>
          <p:nvPr>
            <p:ph type="pic" sz="quarter" idx="3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0" r="2200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012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77839" y="1706931"/>
            <a:ext cx="3490911" cy="2376119"/>
          </a:xfrm>
        </p:spPr>
        <p:txBody>
          <a:bodyPr>
            <a:normAutofit/>
          </a:bodyPr>
          <a:lstStyle/>
          <a:p>
            <a:endParaRPr lang="en-AU" dirty="0"/>
          </a:p>
          <a:p>
            <a:r>
              <a:rPr lang="en-AU" dirty="0"/>
              <a:t>Your prototype will read a provided file that contains a list of book </a:t>
            </a:r>
            <a:r>
              <a:rPr lang="en-AU" dirty="0" err="1"/>
              <a:t>isbn</a:t>
            </a:r>
            <a:r>
              <a:rPr lang="en-AU" dirty="0"/>
              <a:t> numbers. Using python, it will then generate a html page(s) that displays information about the books in a format of your choosing.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77838" y="1126296"/>
            <a:ext cx="8103751" cy="381544"/>
          </a:xfrm>
        </p:spPr>
        <p:txBody>
          <a:bodyPr/>
          <a:lstStyle/>
          <a:p>
            <a:r>
              <a:rPr lang="en-US" cap="none" dirty="0"/>
              <a:t>Project 2 (assignment 3)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C590B2-D6D8-4072-944C-2549C27E8A73}"/>
              </a:ext>
            </a:extLst>
          </p:cNvPr>
          <p:cNvSpPr/>
          <p:nvPr/>
        </p:nvSpPr>
        <p:spPr>
          <a:xfrm>
            <a:off x="4354511" y="1833931"/>
            <a:ext cx="4572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1600" dirty="0">
                <a:solidFill>
                  <a:schemeClr val="accent2"/>
                </a:solidFill>
              </a:rPr>
              <a:t>Project will include the following: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accent2"/>
                </a:solidFill>
              </a:rPr>
              <a:t>Flow chart(s) detailing what your program will 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accent2"/>
                </a:solidFill>
              </a:rPr>
              <a:t>Set of pseudo-code detailing what how your program will operate.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accent2"/>
                </a:solidFill>
              </a:rPr>
              <a:t>Python code that will read a file in the correct format, and output the appropriate html/</a:t>
            </a:r>
            <a:r>
              <a:rPr lang="en-AU" sz="1600" dirty="0" err="1">
                <a:solidFill>
                  <a:schemeClr val="accent2"/>
                </a:solidFill>
              </a:rPr>
              <a:t>css</a:t>
            </a:r>
            <a:r>
              <a:rPr lang="en-AU" sz="1600" dirty="0">
                <a:solidFill>
                  <a:schemeClr val="accent2"/>
                </a:solidFill>
              </a:rPr>
              <a:t> code that shows information on the books in the file.</a:t>
            </a:r>
          </a:p>
          <a:p>
            <a:pPr>
              <a:buFont typeface="Arial" panose="020B0604020202020204" pitchFamily="34" charset="0"/>
              <a:buChar char="•"/>
            </a:pPr>
            <a:endParaRPr lang="en-AU" sz="1600" dirty="0">
              <a:solidFill>
                <a:schemeClr val="accent2"/>
              </a:solidFill>
            </a:endParaRPr>
          </a:p>
          <a:p>
            <a:r>
              <a:rPr lang="en-AU" sz="1600" dirty="0">
                <a:solidFill>
                  <a:schemeClr val="accent2"/>
                </a:solidFill>
              </a:rPr>
              <a:t>To be submitted on GitHub, in the ./Project2/[your student number] directory structure</a:t>
            </a:r>
          </a:p>
        </p:txBody>
      </p:sp>
    </p:spTree>
    <p:extLst>
      <p:ext uri="{BB962C8B-B14F-4D97-AF65-F5344CB8AC3E}">
        <p14:creationId xmlns:p14="http://schemas.microsoft.com/office/powerpoint/2010/main" val="4132591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77838" y="1126296"/>
            <a:ext cx="8103751" cy="381544"/>
          </a:xfrm>
        </p:spPr>
        <p:txBody>
          <a:bodyPr/>
          <a:lstStyle/>
          <a:p>
            <a:r>
              <a:rPr lang="en-US" cap="none" dirty="0"/>
              <a:t>Languages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64DCA5-E4BD-4F65-A967-F8A814B24D9D}"/>
              </a:ext>
            </a:extLst>
          </p:cNvPr>
          <p:cNvSpPr txBox="1"/>
          <p:nvPr/>
        </p:nvSpPr>
        <p:spPr>
          <a:xfrm>
            <a:off x="477838" y="1860550"/>
            <a:ext cx="798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Generations of computer languages have given us many different ways to program.</a:t>
            </a:r>
          </a:p>
        </p:txBody>
      </p:sp>
      <p:pic>
        <p:nvPicPr>
          <p:cNvPr id="1026" name="Picture 2" descr="Image result for 1st">
            <a:extLst>
              <a:ext uri="{FF2B5EF4-FFF2-40B4-BE49-F238E27FC236}">
                <a16:creationId xmlns:a16="http://schemas.microsoft.com/office/drawing/2014/main" id="{4B3C2601-6180-498C-B9A5-882FF5790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21" y="2771943"/>
            <a:ext cx="1114257" cy="111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2nd">
            <a:extLst>
              <a:ext uri="{FF2B5EF4-FFF2-40B4-BE49-F238E27FC236}">
                <a16:creationId xmlns:a16="http://schemas.microsoft.com/office/drawing/2014/main" id="{AA4D5980-E235-4592-A78E-18308F98E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248" y="2771943"/>
            <a:ext cx="1129247" cy="111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3rd">
            <a:extLst>
              <a:ext uri="{FF2B5EF4-FFF2-40B4-BE49-F238E27FC236}">
                <a16:creationId xmlns:a16="http://schemas.microsoft.com/office/drawing/2014/main" id="{1A3EBD50-F4E0-4769-A19B-17941EB73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065" y="2771942"/>
            <a:ext cx="1114257" cy="111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4th">
            <a:extLst>
              <a:ext uri="{FF2B5EF4-FFF2-40B4-BE49-F238E27FC236}">
                <a16:creationId xmlns:a16="http://schemas.microsoft.com/office/drawing/2014/main" id="{D9D67E42-1B1F-4E97-938F-D6F85036C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096" y="2771941"/>
            <a:ext cx="1114257" cy="111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5th">
            <a:extLst>
              <a:ext uri="{FF2B5EF4-FFF2-40B4-BE49-F238E27FC236}">
                <a16:creationId xmlns:a16="http://schemas.microsoft.com/office/drawing/2014/main" id="{53E5428F-6F36-4B10-AFB9-AD0DB1681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127" y="2771941"/>
            <a:ext cx="1114257" cy="111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121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77838" y="1126296"/>
            <a:ext cx="8103751" cy="381544"/>
          </a:xfrm>
        </p:spPr>
        <p:txBody>
          <a:bodyPr/>
          <a:lstStyle/>
          <a:p>
            <a:r>
              <a:rPr lang="en-US" cap="none" dirty="0"/>
              <a:t>1</a:t>
            </a:r>
            <a:r>
              <a:rPr lang="en-US" cap="none" baseline="30000" dirty="0"/>
              <a:t>st</a:t>
            </a:r>
            <a:r>
              <a:rPr lang="en-US" cap="none" dirty="0"/>
              <a:t> Generation Languages</a:t>
            </a:r>
          </a:p>
        </p:txBody>
      </p:sp>
      <p:pic>
        <p:nvPicPr>
          <p:cNvPr id="31" name="Picture 2" descr="Image result for 1st">
            <a:extLst>
              <a:ext uri="{FF2B5EF4-FFF2-40B4-BE49-F238E27FC236}">
                <a16:creationId xmlns:a16="http://schemas.microsoft.com/office/drawing/2014/main" id="{565132C2-DEB6-47CF-A153-DEFB06E60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111" y="1041045"/>
            <a:ext cx="782128" cy="78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 result for machine language">
            <a:extLst>
              <a:ext uri="{FF2B5EF4-FFF2-40B4-BE49-F238E27FC236}">
                <a16:creationId xmlns:a16="http://schemas.microsoft.com/office/drawing/2014/main" id="{C557D79B-176A-401D-9A35-1250EF66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825" y="2747963"/>
            <a:ext cx="2800350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384E517-2F00-4A1E-B589-F0CA9DA3951A}"/>
              </a:ext>
            </a:extLst>
          </p:cNvPr>
          <p:cNvSpPr txBox="1"/>
          <p:nvPr/>
        </p:nvSpPr>
        <p:spPr>
          <a:xfrm>
            <a:off x="519113" y="1826633"/>
            <a:ext cx="42116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All in binary (0 and 1s) this is the language that computers themselves read, and what our modern languages ‘compile’ our code into so that the computer can read it</a:t>
            </a:r>
          </a:p>
        </p:txBody>
      </p:sp>
    </p:spTree>
    <p:extLst>
      <p:ext uri="{BB962C8B-B14F-4D97-AF65-F5344CB8AC3E}">
        <p14:creationId xmlns:p14="http://schemas.microsoft.com/office/powerpoint/2010/main" val="3512165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77838" y="1126296"/>
            <a:ext cx="8103751" cy="381544"/>
          </a:xfrm>
        </p:spPr>
        <p:txBody>
          <a:bodyPr/>
          <a:lstStyle/>
          <a:p>
            <a:r>
              <a:rPr lang="en-US" cap="none" dirty="0"/>
              <a:t>2</a:t>
            </a:r>
            <a:r>
              <a:rPr lang="en-US" cap="none" baseline="30000" dirty="0"/>
              <a:t>nd</a:t>
            </a:r>
            <a:r>
              <a:rPr lang="en-US" cap="none" dirty="0"/>
              <a:t> Generation Languages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84E517-2F00-4A1E-B589-F0CA9DA3951A}"/>
              </a:ext>
            </a:extLst>
          </p:cNvPr>
          <p:cNvSpPr txBox="1"/>
          <p:nvPr/>
        </p:nvSpPr>
        <p:spPr>
          <a:xfrm>
            <a:off x="519113" y="1826633"/>
            <a:ext cx="42116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These are usually named assembly or assembler languages.</a:t>
            </a:r>
          </a:p>
          <a:p>
            <a:endParaRPr lang="en-AU" dirty="0"/>
          </a:p>
          <a:p>
            <a:r>
              <a:rPr lang="en-AU" dirty="0"/>
              <a:t>This is still used to program the ‘kernel’ (the very core parts) of operating systems and how they work with the CPU.</a:t>
            </a:r>
          </a:p>
        </p:txBody>
      </p:sp>
      <p:pic>
        <p:nvPicPr>
          <p:cNvPr id="8" name="Picture 4" descr="Image result for 2nd">
            <a:extLst>
              <a:ext uri="{FF2B5EF4-FFF2-40B4-BE49-F238E27FC236}">
                <a16:creationId xmlns:a16="http://schemas.microsoft.com/office/drawing/2014/main" id="{38145242-239E-45AF-B9CA-E859E1FE8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619" y="1013644"/>
            <a:ext cx="823926" cy="812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Image result for assembly language">
            <a:extLst>
              <a:ext uri="{FF2B5EF4-FFF2-40B4-BE49-F238E27FC236}">
                <a16:creationId xmlns:a16="http://schemas.microsoft.com/office/drawing/2014/main" id="{FA960ABA-811D-4831-BFEC-774F729F8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282" y="2047626"/>
            <a:ext cx="31623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AECD7C6-57F6-4047-9025-42DA0BAFF85A}"/>
              </a:ext>
            </a:extLst>
          </p:cNvPr>
          <p:cNvSpPr/>
          <p:nvPr/>
        </p:nvSpPr>
        <p:spPr>
          <a:xfrm>
            <a:off x="2016125" y="3915795"/>
            <a:ext cx="5111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Every different architecture (hardware design) requires a different assembler language to be used.</a:t>
            </a:r>
          </a:p>
        </p:txBody>
      </p:sp>
    </p:spTree>
    <p:extLst>
      <p:ext uri="{BB962C8B-B14F-4D97-AF65-F5344CB8AC3E}">
        <p14:creationId xmlns:p14="http://schemas.microsoft.com/office/powerpoint/2010/main" val="629462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77838" y="1126296"/>
            <a:ext cx="8103751" cy="381544"/>
          </a:xfrm>
        </p:spPr>
        <p:txBody>
          <a:bodyPr/>
          <a:lstStyle/>
          <a:p>
            <a:r>
              <a:rPr lang="en-US" cap="none" dirty="0"/>
              <a:t>3</a:t>
            </a:r>
            <a:r>
              <a:rPr lang="en-US" cap="none" baseline="30000" dirty="0"/>
              <a:t>rd</a:t>
            </a:r>
            <a:r>
              <a:rPr lang="en-US" cap="none" dirty="0"/>
              <a:t> Generation Languages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84E517-2F00-4A1E-B589-F0CA9DA3951A}"/>
              </a:ext>
            </a:extLst>
          </p:cNvPr>
          <p:cNvSpPr txBox="1"/>
          <p:nvPr/>
        </p:nvSpPr>
        <p:spPr>
          <a:xfrm>
            <a:off x="468503" y="1628775"/>
            <a:ext cx="42116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These are usually called high level languages, as they are more focused on what needs to be done, rather than how it needs to be done.</a:t>
            </a:r>
          </a:p>
          <a:p>
            <a:endParaRPr lang="en-AU" dirty="0"/>
          </a:p>
          <a:p>
            <a:r>
              <a:rPr lang="en-AU" dirty="0"/>
              <a:t>Most people have heard about these languages with C++, Java, Visual Basic and JavaScript falling into this generation.</a:t>
            </a:r>
          </a:p>
        </p:txBody>
      </p:sp>
      <p:pic>
        <p:nvPicPr>
          <p:cNvPr id="9" name="Picture 6" descr="Image result for 3rd">
            <a:extLst>
              <a:ext uri="{FF2B5EF4-FFF2-40B4-BE49-F238E27FC236}">
                <a16:creationId xmlns:a16="http://schemas.microsoft.com/office/drawing/2014/main" id="{0426A750-4543-4A05-8369-28D4EA29D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50" y="1019342"/>
            <a:ext cx="695905" cy="69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mage result for c++">
            <a:extLst>
              <a:ext uri="{FF2B5EF4-FFF2-40B4-BE49-F238E27FC236}">
                <a16:creationId xmlns:a16="http://schemas.microsoft.com/office/drawing/2014/main" id="{EE5CB865-51A4-402D-985F-175DCD01F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165" y="1628775"/>
            <a:ext cx="195046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java">
            <a:extLst>
              <a:ext uri="{FF2B5EF4-FFF2-40B4-BE49-F238E27FC236}">
                <a16:creationId xmlns:a16="http://schemas.microsoft.com/office/drawing/2014/main" id="{2DF6F67B-EC73-4608-9D50-5223F0893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725" y="2724577"/>
            <a:ext cx="1962888" cy="140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 result for visual basic">
            <a:extLst>
              <a:ext uri="{FF2B5EF4-FFF2-40B4-BE49-F238E27FC236}">
                <a16:creationId xmlns:a16="http://schemas.microsoft.com/office/drawing/2014/main" id="{1026CA9D-E05E-420C-8558-6A10A4069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181" y="3635661"/>
            <a:ext cx="2685094" cy="139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618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77838" y="1126296"/>
            <a:ext cx="8103751" cy="381544"/>
          </a:xfrm>
        </p:spPr>
        <p:txBody>
          <a:bodyPr/>
          <a:lstStyle/>
          <a:p>
            <a:r>
              <a:rPr lang="en-US" cap="none" dirty="0"/>
              <a:t>4</a:t>
            </a:r>
            <a:r>
              <a:rPr lang="en-US" cap="none" baseline="30000" dirty="0"/>
              <a:t>th</a:t>
            </a:r>
            <a:r>
              <a:rPr lang="en-US" cap="none" dirty="0"/>
              <a:t> Generation Languages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84E517-2F00-4A1E-B589-F0CA9DA3951A}"/>
              </a:ext>
            </a:extLst>
          </p:cNvPr>
          <p:cNvSpPr txBox="1"/>
          <p:nvPr/>
        </p:nvSpPr>
        <p:spPr>
          <a:xfrm>
            <a:off x="468503" y="1628775"/>
            <a:ext cx="42116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These look closer to ‘human’ language than all those mentioned previously.</a:t>
            </a:r>
          </a:p>
          <a:p>
            <a:endParaRPr lang="en-AU" dirty="0"/>
          </a:p>
          <a:p>
            <a:r>
              <a:rPr lang="en-AU" dirty="0"/>
              <a:t>SQL, Python, PHP are often used in modern applications.</a:t>
            </a:r>
          </a:p>
          <a:p>
            <a:endParaRPr lang="en-AU" dirty="0"/>
          </a:p>
        </p:txBody>
      </p:sp>
      <p:pic>
        <p:nvPicPr>
          <p:cNvPr id="10" name="Picture 8" descr="Image result for 4th">
            <a:extLst>
              <a:ext uri="{FF2B5EF4-FFF2-40B4-BE49-F238E27FC236}">
                <a16:creationId xmlns:a16="http://schemas.microsoft.com/office/drawing/2014/main" id="{4033E7C7-2A9D-4D93-9984-3B2019FE9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145" y="1062420"/>
            <a:ext cx="759762" cy="75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sql">
            <a:extLst>
              <a:ext uri="{FF2B5EF4-FFF2-40B4-BE49-F238E27FC236}">
                <a16:creationId xmlns:a16="http://schemas.microsoft.com/office/drawing/2014/main" id="{880E583F-837F-4053-86F6-1D352C0BC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567" y="3383101"/>
            <a:ext cx="3019425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mage result for python programming">
            <a:extLst>
              <a:ext uri="{FF2B5EF4-FFF2-40B4-BE49-F238E27FC236}">
                <a16:creationId xmlns:a16="http://schemas.microsoft.com/office/drawing/2014/main" id="{DF6F55F0-515F-49F9-9C03-2B8F6E838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861" y="1235682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Image result for php programming">
            <a:extLst>
              <a:ext uri="{FF2B5EF4-FFF2-40B4-BE49-F238E27FC236}">
                <a16:creationId xmlns:a16="http://schemas.microsoft.com/office/drawing/2014/main" id="{A026BE31-9383-489C-B4A3-4B5E7C39E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900" y="2803142"/>
            <a:ext cx="30861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F77823D-6C5C-4A10-9CCF-57368D729BE8}"/>
              </a:ext>
            </a:extLst>
          </p:cNvPr>
          <p:cNvSpPr txBox="1"/>
          <p:nvPr/>
        </p:nvSpPr>
        <p:spPr>
          <a:xfrm>
            <a:off x="468503" y="3278540"/>
            <a:ext cx="26241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Interestingly, as languages get simpler, programmers make them more complex through ‘short-cuts’.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6627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77838" y="1126296"/>
            <a:ext cx="8103751" cy="381544"/>
          </a:xfrm>
        </p:spPr>
        <p:txBody>
          <a:bodyPr/>
          <a:lstStyle/>
          <a:p>
            <a:r>
              <a:rPr lang="en-US" cap="none" dirty="0"/>
              <a:t>5</a:t>
            </a:r>
            <a:r>
              <a:rPr lang="en-US" cap="none" baseline="30000" dirty="0"/>
              <a:t>th</a:t>
            </a:r>
            <a:r>
              <a:rPr lang="en-US" cap="none" dirty="0"/>
              <a:t> Generation Languages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84E517-2F00-4A1E-B589-F0CA9DA3951A}"/>
              </a:ext>
            </a:extLst>
          </p:cNvPr>
          <p:cNvSpPr txBox="1"/>
          <p:nvPr/>
        </p:nvSpPr>
        <p:spPr>
          <a:xfrm>
            <a:off x="468503" y="1628775"/>
            <a:ext cx="42116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These visual languages, include ‘physical’ representations of code allowing more interaction with ‘non-programmers’</a:t>
            </a:r>
          </a:p>
          <a:p>
            <a:endParaRPr lang="en-AU" dirty="0"/>
          </a:p>
        </p:txBody>
      </p:sp>
      <p:pic>
        <p:nvPicPr>
          <p:cNvPr id="11" name="Picture 10" descr="Image result for 5th">
            <a:extLst>
              <a:ext uri="{FF2B5EF4-FFF2-40B4-BE49-F238E27FC236}">
                <a16:creationId xmlns:a16="http://schemas.microsoft.com/office/drawing/2014/main" id="{B9B07681-209D-427A-939E-7803CA76E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050" y="1099448"/>
            <a:ext cx="758484" cy="75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Image result for node-red">
            <a:extLst>
              <a:ext uri="{FF2B5EF4-FFF2-40B4-BE49-F238E27FC236}">
                <a16:creationId xmlns:a16="http://schemas.microsoft.com/office/drawing/2014/main" id="{7A1473C4-F16D-4EEF-9313-B7DE66C46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913" y="1266915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Image result for prolog">
            <a:extLst>
              <a:ext uri="{FF2B5EF4-FFF2-40B4-BE49-F238E27FC236}">
                <a16:creationId xmlns:a16="http://schemas.microsoft.com/office/drawing/2014/main" id="{90A3BF09-8DA3-4B83-B076-28D9D5C37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163" y="3255384"/>
            <a:ext cx="28956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455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D2822A-0FCF-4633-92E2-ACAA4FD142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F0B995-D075-47DB-92F7-0D7A1F2A88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9712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77838" y="1126296"/>
            <a:ext cx="8103751" cy="381544"/>
          </a:xfrm>
        </p:spPr>
        <p:txBody>
          <a:bodyPr/>
          <a:lstStyle/>
          <a:p>
            <a:r>
              <a:rPr lang="en-US" cap="none" dirty="0"/>
              <a:t>Python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84E517-2F00-4A1E-B589-F0CA9DA3951A}"/>
              </a:ext>
            </a:extLst>
          </p:cNvPr>
          <p:cNvSpPr txBox="1"/>
          <p:nvPr/>
        </p:nvSpPr>
        <p:spPr>
          <a:xfrm>
            <a:off x="468503" y="1628775"/>
            <a:ext cx="82754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Python is a 4</a:t>
            </a:r>
            <a:r>
              <a:rPr lang="en-AU" baseline="30000" dirty="0"/>
              <a:t>th</a:t>
            </a:r>
            <a:r>
              <a:rPr lang="en-AU" dirty="0"/>
              <a:t> Generation language that is built with the mindset that everything is an object.</a:t>
            </a:r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4AF93-FD7F-40DE-AA31-CAED9E46D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350" y="2047626"/>
            <a:ext cx="5568950" cy="291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871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77838" y="1126296"/>
            <a:ext cx="8103751" cy="381544"/>
          </a:xfrm>
        </p:spPr>
        <p:txBody>
          <a:bodyPr/>
          <a:lstStyle/>
          <a:p>
            <a:r>
              <a:rPr lang="en-US" cap="none" dirty="0"/>
              <a:t>Python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84E517-2F00-4A1E-B589-F0CA9DA3951A}"/>
              </a:ext>
            </a:extLst>
          </p:cNvPr>
          <p:cNvSpPr txBox="1"/>
          <p:nvPr/>
        </p:nvSpPr>
        <p:spPr>
          <a:xfrm>
            <a:off x="468503" y="1628775"/>
            <a:ext cx="82754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check if python is on your computer;</a:t>
            </a:r>
          </a:p>
          <a:p>
            <a:endParaRPr lang="en-AU" dirty="0"/>
          </a:p>
          <a:p>
            <a:r>
              <a:rPr lang="en-AU" dirty="0"/>
              <a:t>Open a command.exe or terminal window and type: python</a:t>
            </a:r>
          </a:p>
          <a:p>
            <a:endParaRPr lang="en-AU" dirty="0"/>
          </a:p>
          <a:p>
            <a:r>
              <a:rPr lang="en-AU" dirty="0"/>
              <a:t>If you see a message about python 3.x.x and a &gt;&gt;&gt; prompt, then you have python already, otherwise</a:t>
            </a:r>
          </a:p>
          <a:p>
            <a:endParaRPr lang="en-AU" dirty="0"/>
          </a:p>
          <a:p>
            <a:r>
              <a:rPr lang="en-AU" dirty="0"/>
              <a:t>Lets install Python on your computer;</a:t>
            </a:r>
          </a:p>
          <a:p>
            <a:endParaRPr lang="en-AU" dirty="0"/>
          </a:p>
          <a:p>
            <a:r>
              <a:rPr lang="en-AU" dirty="0"/>
              <a:t>Go to </a:t>
            </a:r>
            <a:r>
              <a:rPr lang="en-AU" dirty="0">
                <a:hlinkClick r:id="rId2"/>
              </a:rPr>
              <a:t>www.python.org/downloads</a:t>
            </a:r>
            <a:r>
              <a:rPr lang="en-AU" dirty="0"/>
              <a:t> ; We want to install python 3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5369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307CA-9FA6-4E06-BCB5-B4E567F293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AU" dirty="0"/>
              <a:t>11055 </a:t>
            </a:r>
            <a:r>
              <a:rPr lang="en-AU" dirty="0" err="1"/>
              <a:t>PfD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F05B6-A890-4FA0-9CDC-EF3E131B07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D8933-5974-4DD4-9136-7D00F0D986BB}"/>
              </a:ext>
            </a:extLst>
          </p:cNvPr>
          <p:cNvSpPr txBox="1"/>
          <p:nvPr/>
        </p:nvSpPr>
        <p:spPr>
          <a:xfrm>
            <a:off x="2880232" y="321727"/>
            <a:ext cx="3164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50C8F-06CD-4244-9499-C49305131630}"/>
              </a:ext>
            </a:extLst>
          </p:cNvPr>
          <p:cNvSpPr txBox="1"/>
          <p:nvPr/>
        </p:nvSpPr>
        <p:spPr>
          <a:xfrm>
            <a:off x="468503" y="1139825"/>
            <a:ext cx="82754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 your IDE create a file called helloworld.py (in your git exercise folder) and type in 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print(“Hello World”)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Save it and run your file by </a:t>
            </a:r>
          </a:p>
          <a:p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30DBAC-25E8-4C0D-9413-C04C6179A0C9}"/>
              </a:ext>
            </a:extLst>
          </p:cNvPr>
          <p:cNvSpPr txBox="1"/>
          <p:nvPr/>
        </p:nvSpPr>
        <p:spPr>
          <a:xfrm>
            <a:off x="871790" y="3276600"/>
            <a:ext cx="2165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Windows</a:t>
            </a:r>
          </a:p>
          <a:p>
            <a:endParaRPr lang="en-AU" sz="1000" dirty="0"/>
          </a:p>
          <a:p>
            <a:r>
              <a:rPr lang="en-AU" sz="1000" dirty="0"/>
              <a:t>Open Explorer, navigate to the folder with the helloworld.py file in it. </a:t>
            </a:r>
          </a:p>
          <a:p>
            <a:endParaRPr lang="en-AU" sz="1000" dirty="0"/>
          </a:p>
          <a:p>
            <a:r>
              <a:rPr lang="en-AU" sz="1000" dirty="0"/>
              <a:t>Click in the address bar (at the top) and type -&gt; </a:t>
            </a:r>
            <a:r>
              <a:rPr lang="en-AU" sz="1000" dirty="0" err="1"/>
              <a:t>cmd</a:t>
            </a:r>
            <a:endParaRPr lang="en-AU" sz="1000" dirty="0"/>
          </a:p>
          <a:p>
            <a:endParaRPr lang="en-AU" sz="1000" dirty="0"/>
          </a:p>
          <a:p>
            <a:r>
              <a:rPr lang="en-AU" sz="1000" dirty="0"/>
              <a:t>At the prompt type -&gt; helloworld.py</a:t>
            </a:r>
          </a:p>
          <a:p>
            <a:r>
              <a:rPr lang="en-AU" sz="1000" dirty="0"/>
              <a:t>Or -&gt; python3 helloworld.py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2162AF-DEE4-4DF0-B93E-401A8BE0D7DA}"/>
              </a:ext>
            </a:extLst>
          </p:cNvPr>
          <p:cNvSpPr txBox="1"/>
          <p:nvPr/>
        </p:nvSpPr>
        <p:spPr>
          <a:xfrm>
            <a:off x="4606226" y="3276600"/>
            <a:ext cx="2165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Mac</a:t>
            </a:r>
          </a:p>
          <a:p>
            <a:endParaRPr lang="en-AU" sz="1000" dirty="0"/>
          </a:p>
          <a:p>
            <a:r>
              <a:rPr lang="en-AU" sz="1000" dirty="0"/>
              <a:t>Open Finder, navigate to the folder with the helloworld.py file in it. </a:t>
            </a:r>
          </a:p>
          <a:p>
            <a:endParaRPr lang="en-AU" sz="1000" dirty="0"/>
          </a:p>
          <a:p>
            <a:r>
              <a:rPr lang="en-AU" sz="1000" dirty="0"/>
              <a:t>Right click and select open terminal</a:t>
            </a:r>
          </a:p>
          <a:p>
            <a:endParaRPr lang="en-AU" sz="1000" dirty="0"/>
          </a:p>
          <a:p>
            <a:r>
              <a:rPr lang="en-AU" sz="1000" dirty="0"/>
              <a:t>At the prompt type -&gt; helloworld.py</a:t>
            </a:r>
          </a:p>
          <a:p>
            <a:r>
              <a:rPr lang="en-AU" sz="1000" dirty="0"/>
              <a:t>Or -&gt; python3 helloworld.py</a:t>
            </a:r>
          </a:p>
          <a:p>
            <a:endParaRPr lang="en-AU" sz="1000" dirty="0"/>
          </a:p>
        </p:txBody>
      </p:sp>
    </p:spTree>
    <p:extLst>
      <p:ext uri="{BB962C8B-B14F-4D97-AF65-F5344CB8AC3E}">
        <p14:creationId xmlns:p14="http://schemas.microsoft.com/office/powerpoint/2010/main" val="800890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477838" y="1719343"/>
            <a:ext cx="2957512" cy="3067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# this is a comment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“””</a:t>
            </a:r>
          </a:p>
          <a:p>
            <a:pPr marL="0" indent="0">
              <a:buNone/>
            </a:pPr>
            <a:r>
              <a:rPr lang="en-US" dirty="0"/>
              <a:t>This is a multi-line comment </a:t>
            </a:r>
          </a:p>
          <a:p>
            <a:pPr marL="0" indent="0">
              <a:buNone/>
            </a:pPr>
            <a:r>
              <a:rPr lang="en-US" dirty="0"/>
              <a:t>“””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77839" y="1097237"/>
            <a:ext cx="3065462" cy="381544"/>
          </a:xfrm>
        </p:spPr>
        <p:txBody>
          <a:bodyPr/>
          <a:lstStyle/>
          <a:p>
            <a:r>
              <a:rPr lang="en-US" sz="2800" cap="none" dirty="0"/>
              <a:t>Comments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62E5707-E334-41EC-8656-C5B007F45E7E}"/>
              </a:ext>
            </a:extLst>
          </p:cNvPr>
          <p:cNvSpPr txBox="1">
            <a:spLocks/>
          </p:cNvSpPr>
          <p:nvPr/>
        </p:nvSpPr>
        <p:spPr>
          <a:xfrm>
            <a:off x="4872038" y="1097237"/>
            <a:ext cx="3065462" cy="381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7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3200" b="1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spcBef>
                <a:spcPct val="20000"/>
              </a:spcBef>
              <a:buFont typeface="Calibri" panose="020F0502020204030204" pitchFamily="34" charset="0"/>
              <a:buChar char="­"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809625" indent="-180975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162050" indent="-171450" algn="l" defTabSz="914400" rtl="0" eaLnBrk="1" latinLnBrk="0" hangingPunct="1">
              <a:spcBef>
                <a:spcPct val="20000"/>
              </a:spcBef>
              <a:buFont typeface="Calibri" panose="020F0502020204030204" pitchFamily="34" charset="0"/>
              <a:buChar char="◦"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524000" indent="-180975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cap="none" dirty="0"/>
              <a:t>Scoping (Indenting)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BB33CB9-9DF7-4C8D-A33A-D0822406F69D}"/>
              </a:ext>
            </a:extLst>
          </p:cNvPr>
          <p:cNvSpPr txBox="1">
            <a:spLocks/>
          </p:cNvSpPr>
          <p:nvPr/>
        </p:nvSpPr>
        <p:spPr>
          <a:xfrm>
            <a:off x="4872038" y="1719343"/>
            <a:ext cx="3649661" cy="3067446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spcBef>
                <a:spcPct val="20000"/>
              </a:spcBef>
              <a:buFont typeface="Calibri" panose="020F0502020204030204" pitchFamily="34" charset="0"/>
              <a:buChar char="­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809625" indent="-180975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162050" indent="-171450" algn="l" defTabSz="914400" rtl="0" eaLnBrk="1" latinLnBrk="0" hangingPunct="1">
              <a:spcBef>
                <a:spcPct val="20000"/>
              </a:spcBef>
              <a:buFont typeface="Calibri" panose="020F0502020204030204" pitchFamily="34" charset="0"/>
              <a:buChar char="◦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524000" indent="-180975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There are no { braces saying when statements and functions and classes start and end, it is all done on the spacing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def </a:t>
            </a:r>
            <a:r>
              <a:rPr lang="en-US" dirty="0" err="1"/>
              <a:t>aFunction</a:t>
            </a:r>
            <a:r>
              <a:rPr lang="en-US" dirty="0"/>
              <a:t>():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#this is part of the function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#this is not part of the function</a:t>
            </a:r>
          </a:p>
        </p:txBody>
      </p:sp>
    </p:spTree>
    <p:extLst>
      <p:ext uri="{BB962C8B-B14F-4D97-AF65-F5344CB8AC3E}">
        <p14:creationId xmlns:p14="http://schemas.microsoft.com/office/powerpoint/2010/main" val="376547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477838" y="1719343"/>
            <a:ext cx="3973512" cy="28809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Value concepts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= “” 			String</a:t>
            </a:r>
          </a:p>
          <a:p>
            <a:pPr marL="0" indent="0">
              <a:buNone/>
            </a:pPr>
            <a:r>
              <a:rPr lang="en-US" dirty="0"/>
              <a:t>a = 1				Number		</a:t>
            </a:r>
          </a:p>
          <a:p>
            <a:pPr marL="0" indent="0">
              <a:buNone/>
            </a:pPr>
            <a:r>
              <a:rPr lang="en-US" dirty="0"/>
              <a:t>a = [“one”, “two”, “three”]</a:t>
            </a:r>
          </a:p>
          <a:p>
            <a:pPr marL="0" indent="0">
              <a:buNone/>
            </a:pPr>
            <a:r>
              <a:rPr lang="en-US" dirty="0"/>
              <a:t>a = { “name” : “John”, “age” : “21”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 are other types, do some research if you want to know more.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77838" y="1097237"/>
            <a:ext cx="8103751" cy="381544"/>
          </a:xfrm>
        </p:spPr>
        <p:txBody>
          <a:bodyPr/>
          <a:lstStyle/>
          <a:p>
            <a:r>
              <a:rPr lang="en-US" sz="2800" cap="none" dirty="0"/>
              <a:t>Create Variables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6197E2D-21A7-4B10-A931-3F56E5182F0E}"/>
              </a:ext>
            </a:extLst>
          </p:cNvPr>
          <p:cNvSpPr txBox="1">
            <a:spLocks/>
          </p:cNvSpPr>
          <p:nvPr/>
        </p:nvSpPr>
        <p:spPr>
          <a:xfrm>
            <a:off x="4692652" y="1795543"/>
            <a:ext cx="3973512" cy="2880941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spcBef>
                <a:spcPct val="20000"/>
              </a:spcBef>
              <a:buFont typeface="Calibri" panose="020F0502020204030204" pitchFamily="34" charset="0"/>
              <a:buChar char="­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809625" indent="-180975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162050" indent="-171450" algn="l" defTabSz="914400" rtl="0" eaLnBrk="1" latinLnBrk="0" hangingPunct="1">
              <a:spcBef>
                <a:spcPct val="20000"/>
              </a:spcBef>
              <a:buFont typeface="Calibri" panose="020F0502020204030204" pitchFamily="34" charset="0"/>
              <a:buChar char="◦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524000" indent="-180975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Redeclaring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 = 1				(a is a number)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 = “hello”      (a is redeclared as a string)</a:t>
            </a:r>
          </a:p>
        </p:txBody>
      </p:sp>
    </p:spTree>
    <p:extLst>
      <p:ext uri="{BB962C8B-B14F-4D97-AF65-F5344CB8AC3E}">
        <p14:creationId xmlns:p14="http://schemas.microsoft.com/office/powerpoint/2010/main" val="2785448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477838" y="1719343"/>
            <a:ext cx="8221662" cy="28809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x = 1					# x is an int</a:t>
            </a:r>
          </a:p>
          <a:p>
            <a:pPr marL="0" indent="0">
              <a:buNone/>
            </a:pPr>
            <a:r>
              <a:rPr lang="en-US" dirty="0"/>
              <a:t>a = float(x) 		# will convert x to a float to store in a</a:t>
            </a:r>
          </a:p>
          <a:p>
            <a:pPr marL="0" indent="0">
              <a:buNone/>
            </a:pPr>
            <a:r>
              <a:rPr lang="en-US" dirty="0"/>
              <a:t>x = int(a)			# will convert a to a int to store in 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 is also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st</a:t>
            </a:r>
            <a:r>
              <a:rPr lang="en-US" dirty="0"/>
              <a:t> = str(x)			# will convert x into a string to store in </a:t>
            </a:r>
            <a:r>
              <a:rPr lang="en-US" dirty="0" err="1"/>
              <a:t>st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st</a:t>
            </a:r>
            <a:r>
              <a:rPr lang="en-US" dirty="0"/>
              <a:t> = ‘hello’			# these are the same</a:t>
            </a:r>
          </a:p>
          <a:p>
            <a:pPr marL="0" indent="0">
              <a:buNone/>
            </a:pPr>
            <a:r>
              <a:rPr lang="en-US" dirty="0" err="1"/>
              <a:t>st</a:t>
            </a:r>
            <a:r>
              <a:rPr lang="en-US" dirty="0"/>
              <a:t> = “hello” 		 # these are the same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77838" y="1097237"/>
            <a:ext cx="8103751" cy="381544"/>
          </a:xfrm>
        </p:spPr>
        <p:txBody>
          <a:bodyPr/>
          <a:lstStyle/>
          <a:p>
            <a:r>
              <a:rPr lang="en-US" sz="2800" cap="none" dirty="0"/>
              <a:t>Variables forcing type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</p:spTree>
    <p:extLst>
      <p:ext uri="{BB962C8B-B14F-4D97-AF65-F5344CB8AC3E}">
        <p14:creationId xmlns:p14="http://schemas.microsoft.com/office/powerpoint/2010/main" val="618655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477838" y="1719343"/>
            <a:ext cx="8221662" cy="28809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st</a:t>
            </a:r>
            <a:r>
              <a:rPr lang="en-US" dirty="0"/>
              <a:t> = “”” this is			# you can also use ‘’’</a:t>
            </a:r>
          </a:p>
          <a:p>
            <a:pPr marL="0" indent="0">
              <a:buNone/>
            </a:pPr>
            <a:r>
              <a:rPr lang="en-US" dirty="0"/>
              <a:t>going to be a multi-line</a:t>
            </a:r>
          </a:p>
          <a:p>
            <a:pPr marL="0" indent="0">
              <a:buNone/>
            </a:pPr>
            <a:r>
              <a:rPr lang="en-US" dirty="0"/>
              <a:t>string“””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Strings are arrays by default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st</a:t>
            </a:r>
            <a:r>
              <a:rPr lang="en-US" dirty="0"/>
              <a:t> = “hello”</a:t>
            </a:r>
          </a:p>
          <a:p>
            <a:pPr marL="0" indent="0">
              <a:buNone/>
            </a:pPr>
            <a:r>
              <a:rPr lang="en-US" dirty="0"/>
              <a:t>print (</a:t>
            </a:r>
            <a:r>
              <a:rPr lang="en-US" dirty="0" err="1"/>
              <a:t>st</a:t>
            </a:r>
            <a:r>
              <a:rPr lang="en-US" dirty="0"/>
              <a:t>[4]) 			#this will print o (arrays start at 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77838" y="1097237"/>
            <a:ext cx="8103751" cy="381544"/>
          </a:xfrm>
        </p:spPr>
        <p:txBody>
          <a:bodyPr/>
          <a:lstStyle/>
          <a:p>
            <a:r>
              <a:rPr lang="en-US" sz="2800" cap="none" dirty="0"/>
              <a:t>Variables, strings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</p:spTree>
    <p:extLst>
      <p:ext uri="{BB962C8B-B14F-4D97-AF65-F5344CB8AC3E}">
        <p14:creationId xmlns:p14="http://schemas.microsoft.com/office/powerpoint/2010/main" val="3857839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477838" y="1719343"/>
            <a:ext cx="2646362" cy="3067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Equal </a:t>
            </a:r>
          </a:p>
          <a:p>
            <a:pPr marL="0" indent="0">
              <a:buNone/>
            </a:pPr>
            <a:r>
              <a:rPr lang="en-US" dirty="0"/>
              <a:t>Not Equal	</a:t>
            </a:r>
          </a:p>
          <a:p>
            <a:pPr marL="0" indent="0">
              <a:buNone/>
            </a:pPr>
            <a:r>
              <a:rPr lang="en-US" dirty="0"/>
              <a:t>Greater than</a:t>
            </a:r>
          </a:p>
          <a:p>
            <a:pPr marL="0" indent="0">
              <a:buNone/>
            </a:pPr>
            <a:r>
              <a:rPr lang="en-US" dirty="0"/>
              <a:t>Greater than or equal to</a:t>
            </a:r>
          </a:p>
          <a:p>
            <a:pPr marL="0" indent="0">
              <a:buNone/>
            </a:pPr>
            <a:r>
              <a:rPr lang="en-US" dirty="0"/>
              <a:t>Less than</a:t>
            </a:r>
          </a:p>
          <a:p>
            <a:pPr marL="0" indent="0">
              <a:buNone/>
            </a:pPr>
            <a:r>
              <a:rPr lang="en-US" dirty="0"/>
              <a:t>Less than or equal to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77838" y="1097237"/>
            <a:ext cx="8103751" cy="381544"/>
          </a:xfrm>
        </p:spPr>
        <p:txBody>
          <a:bodyPr/>
          <a:lstStyle/>
          <a:p>
            <a:r>
              <a:rPr lang="en-US" sz="2800" cap="none" dirty="0"/>
              <a:t>Comparison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AEAD6FA-B32B-4B1C-90FB-83D49066568C}"/>
              </a:ext>
            </a:extLst>
          </p:cNvPr>
          <p:cNvSpPr txBox="1">
            <a:spLocks/>
          </p:cNvSpPr>
          <p:nvPr/>
        </p:nvSpPr>
        <p:spPr>
          <a:xfrm>
            <a:off x="3373440" y="1719343"/>
            <a:ext cx="2646362" cy="3067446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spcBef>
                <a:spcPct val="20000"/>
              </a:spcBef>
              <a:buFont typeface="Calibri" panose="020F0502020204030204" pitchFamily="34" charset="0"/>
              <a:buChar char="­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809625" indent="-180975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162050" indent="-171450" algn="l" defTabSz="914400" rtl="0" eaLnBrk="1" latinLnBrk="0" hangingPunct="1">
              <a:spcBef>
                <a:spcPct val="20000"/>
              </a:spcBef>
              <a:buFont typeface="Calibri" panose="020F0502020204030204" pitchFamily="34" charset="0"/>
              <a:buChar char="◦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524000" indent="-180975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==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!=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&gt;=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&lt;=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A1F73B-8A69-4A7A-A760-772576135739}"/>
              </a:ext>
            </a:extLst>
          </p:cNvPr>
          <p:cNvSpPr txBox="1"/>
          <p:nvPr/>
        </p:nvSpPr>
        <p:spPr>
          <a:xfrm>
            <a:off x="5549900" y="2146300"/>
            <a:ext cx="15811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can’t compare different types</a:t>
            </a:r>
          </a:p>
          <a:p>
            <a:endParaRPr lang="en-AU" dirty="0"/>
          </a:p>
          <a:p>
            <a:r>
              <a:rPr lang="en-AU" dirty="0"/>
              <a:t>e.g. </a:t>
            </a:r>
          </a:p>
          <a:p>
            <a:endParaRPr lang="en-AU" dirty="0"/>
          </a:p>
          <a:p>
            <a:r>
              <a:rPr lang="en-AU" dirty="0"/>
              <a:t>2 == “2” </a:t>
            </a:r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54F8EC40-44C2-421A-9FC7-1DA2DB1ABCD3}"/>
              </a:ext>
            </a:extLst>
          </p:cNvPr>
          <p:cNvSpPr/>
          <p:nvPr/>
        </p:nvSpPr>
        <p:spPr>
          <a:xfrm>
            <a:off x="6432931" y="3727450"/>
            <a:ext cx="831850" cy="533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4803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477838" y="1719343"/>
            <a:ext cx="2646362" cy="3067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And	</a:t>
            </a:r>
          </a:p>
          <a:p>
            <a:pPr marL="0" indent="0">
              <a:buNone/>
            </a:pPr>
            <a:r>
              <a:rPr lang="en-US" dirty="0"/>
              <a:t>Or	</a:t>
            </a:r>
          </a:p>
          <a:p>
            <a:pPr marL="0" indent="0">
              <a:buNone/>
            </a:pPr>
            <a:r>
              <a:rPr lang="en-US" dirty="0"/>
              <a:t>Not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String Concatenation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77838" y="1097237"/>
            <a:ext cx="8103751" cy="381544"/>
          </a:xfrm>
        </p:spPr>
        <p:txBody>
          <a:bodyPr/>
          <a:lstStyle/>
          <a:p>
            <a:r>
              <a:rPr lang="en-US" sz="2800" cap="none" dirty="0"/>
              <a:t>Logical Operators &amp; Concatenation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11055 </a:t>
            </a:r>
            <a:r>
              <a:rPr lang="en-US" dirty="0" err="1"/>
              <a:t>PfD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AEAD6FA-B32B-4B1C-90FB-83D49066568C}"/>
              </a:ext>
            </a:extLst>
          </p:cNvPr>
          <p:cNvSpPr txBox="1">
            <a:spLocks/>
          </p:cNvSpPr>
          <p:nvPr/>
        </p:nvSpPr>
        <p:spPr>
          <a:xfrm>
            <a:off x="3373440" y="1719343"/>
            <a:ext cx="2646362" cy="3067446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spcBef>
                <a:spcPct val="20000"/>
              </a:spcBef>
              <a:buFont typeface="Calibri" panose="020F0502020204030204" pitchFamily="34" charset="0"/>
              <a:buChar char="­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809625" indent="-180975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162050" indent="-171450" algn="l" defTabSz="914400" rtl="0" eaLnBrk="1" latinLnBrk="0" hangingPunct="1">
              <a:spcBef>
                <a:spcPct val="20000"/>
              </a:spcBef>
              <a:buFont typeface="Calibri" panose="020F0502020204030204" pitchFamily="34" charset="0"/>
              <a:buChar char="◦"/>
              <a:tabLst>
                <a:tab pos="180000" algn="l"/>
                <a:tab pos="360000" algn="l"/>
                <a:tab pos="540000" algn="l"/>
                <a:tab pos="720000" algn="l"/>
              </a:tabLst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524000" indent="-180975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and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or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not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+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482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307CA-9FA6-4E06-BCB5-B4E567F293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AU" dirty="0"/>
              <a:t>11055 </a:t>
            </a:r>
            <a:r>
              <a:rPr lang="en-AU" dirty="0" err="1"/>
              <a:t>PfD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F05B6-A890-4FA0-9CDC-EF3E131B07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D8933-5974-4DD4-9136-7D00F0D986BB}"/>
              </a:ext>
            </a:extLst>
          </p:cNvPr>
          <p:cNvSpPr txBox="1"/>
          <p:nvPr/>
        </p:nvSpPr>
        <p:spPr>
          <a:xfrm>
            <a:off x="2880232" y="321727"/>
            <a:ext cx="3164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50C8F-06CD-4244-9499-C49305131630}"/>
              </a:ext>
            </a:extLst>
          </p:cNvPr>
          <p:cNvSpPr txBox="1"/>
          <p:nvPr/>
        </p:nvSpPr>
        <p:spPr>
          <a:xfrm>
            <a:off x="468503" y="1139825"/>
            <a:ext cx="827544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 your IDE create a file called helloworld2.py (in your git exercise folder) and type in </a:t>
            </a:r>
          </a:p>
          <a:p>
            <a:endParaRPr lang="en-AU" dirty="0"/>
          </a:p>
          <a:p>
            <a:r>
              <a:rPr lang="en-AU" dirty="0" err="1"/>
              <a:t>str_hello</a:t>
            </a:r>
            <a:r>
              <a:rPr lang="en-AU" dirty="0"/>
              <a:t> = “Hello”</a:t>
            </a:r>
          </a:p>
          <a:p>
            <a:r>
              <a:rPr lang="en-AU" dirty="0" err="1"/>
              <a:t>str_world</a:t>
            </a:r>
            <a:r>
              <a:rPr lang="en-AU" dirty="0"/>
              <a:t> = “World”</a:t>
            </a:r>
          </a:p>
          <a:p>
            <a:endParaRPr lang="en-AU" dirty="0"/>
          </a:p>
          <a:p>
            <a:r>
              <a:rPr lang="en-AU" dirty="0"/>
              <a:t>print(</a:t>
            </a:r>
            <a:r>
              <a:rPr lang="en-AU" dirty="0" err="1"/>
              <a:t>str_hello</a:t>
            </a:r>
            <a:r>
              <a:rPr lang="en-AU" dirty="0"/>
              <a:t> + </a:t>
            </a:r>
            <a:r>
              <a:rPr lang="en-AU" dirty="0" err="1"/>
              <a:t>str_world</a:t>
            </a:r>
            <a:r>
              <a:rPr lang="en-AU" dirty="0"/>
              <a:t>)</a:t>
            </a:r>
          </a:p>
          <a:p>
            <a:endParaRPr lang="en-AU" dirty="0"/>
          </a:p>
          <a:p>
            <a:r>
              <a:rPr lang="en-AU" dirty="0"/>
              <a:t>print(</a:t>
            </a:r>
            <a:r>
              <a:rPr lang="en-AU" dirty="0" err="1"/>
              <a:t>str_hello</a:t>
            </a:r>
            <a:r>
              <a:rPr lang="en-AU" dirty="0"/>
              <a:t>, </a:t>
            </a:r>
            <a:r>
              <a:rPr lang="en-AU" dirty="0" err="1"/>
              <a:t>str_world</a:t>
            </a:r>
            <a:r>
              <a:rPr lang="en-AU" dirty="0"/>
              <a:t>)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Clean up any issues with formatting of your strings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18404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307CA-9FA6-4E06-BCB5-B4E567F293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AU" dirty="0"/>
              <a:t>11055 </a:t>
            </a:r>
            <a:r>
              <a:rPr lang="en-AU" dirty="0" err="1"/>
              <a:t>PfD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F05B6-A890-4FA0-9CDC-EF3E131B07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30/9/19 – S2W9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086C65-11F3-4FC9-B94E-87E962448874}"/>
              </a:ext>
            </a:extLst>
          </p:cNvPr>
          <p:cNvSpPr txBox="1"/>
          <p:nvPr/>
        </p:nvSpPr>
        <p:spPr>
          <a:xfrm>
            <a:off x="571500" y="1257300"/>
            <a:ext cx="810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Take one of your early JavaScript pieces of code and rewrite it into Python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D8933-5974-4DD4-9136-7D00F0D986BB}"/>
              </a:ext>
            </a:extLst>
          </p:cNvPr>
          <p:cNvSpPr txBox="1"/>
          <p:nvPr/>
        </p:nvSpPr>
        <p:spPr>
          <a:xfrm>
            <a:off x="3483482" y="356711"/>
            <a:ext cx="3164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 3</a:t>
            </a:r>
          </a:p>
        </p:txBody>
      </p:sp>
    </p:spTree>
    <p:extLst>
      <p:ext uri="{BB962C8B-B14F-4D97-AF65-F5344CB8AC3E}">
        <p14:creationId xmlns:p14="http://schemas.microsoft.com/office/powerpoint/2010/main" val="3599883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C-Rebrand">
      <a:dk1>
        <a:sysClr val="windowText" lastClr="000000"/>
      </a:dk1>
      <a:lt1>
        <a:sysClr val="window" lastClr="FFFFFF"/>
      </a:lt1>
      <a:dk2>
        <a:srgbClr val="414D61"/>
      </a:dk2>
      <a:lt2>
        <a:srgbClr val="FFFFFF"/>
      </a:lt2>
      <a:accent1>
        <a:srgbClr val="00A9CE"/>
      </a:accent1>
      <a:accent2>
        <a:srgbClr val="58595B"/>
      </a:accent2>
      <a:accent3>
        <a:srgbClr val="92D6E3"/>
      </a:accent3>
      <a:accent4>
        <a:srgbClr val="006C91"/>
      </a:accent4>
      <a:accent5>
        <a:srgbClr val="414D61"/>
      </a:accent5>
      <a:accent6>
        <a:srgbClr val="00A79D"/>
      </a:accent6>
      <a:hlink>
        <a:srgbClr val="00A9CE"/>
      </a:hlink>
      <a:folHlink>
        <a:srgbClr val="006C91"/>
      </a:folHlink>
    </a:clrScheme>
    <a:fontScheme name="UC-Rebrand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2" id="{383DEF78-DEB4-5B41-A66A-979385EB815A}" vid="{C6B7040D-84D1-654B-804C-49F837896D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Powerpoint-ArtsDesign_Internal</Template>
  <TotalTime>4355</TotalTime>
  <Words>1048</Words>
  <Application>Microsoft Office PowerPoint</Application>
  <PresentationFormat>On-screen Show (16:9)</PresentationFormat>
  <Paragraphs>247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Thompson</dc:creator>
  <cp:lastModifiedBy>David Ascencio Navarro</cp:lastModifiedBy>
  <cp:revision>120</cp:revision>
  <dcterms:created xsi:type="dcterms:W3CDTF">2019-07-29T23:12:27Z</dcterms:created>
  <dcterms:modified xsi:type="dcterms:W3CDTF">2019-10-15T12:04:07Z</dcterms:modified>
</cp:coreProperties>
</file>